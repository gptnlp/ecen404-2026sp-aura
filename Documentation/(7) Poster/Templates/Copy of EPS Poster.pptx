
<file path=[Content_Types].xml><?xml version="1.0" encoding="utf-8"?>
<Types xmlns="http://schemas.openxmlformats.org/package/2006/content-types">
  <Default ContentType="application/vnd.openxmlformats-officedocument.spreadsheetml.sheet" Extension="xlsx"/>
  <Default ContentType="application/vnd.ms-excel.sheet.macroEnabled.12" Extension="xlsm"/>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4.xml"/>
  <Override ContentType="application/vnd.openxmlformats-officedocument.drawingml.chart+xml" PartName="/ppt/charts/chart1.xml"/>
  <Override ContentType="application/vnd.openxmlformats-officedocument.presentationml.notesSlide+xml" PartName="/ppt/notesSlides/notesSlide1.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1808">
          <p15:clr>
            <a:srgbClr val="A4A3A4"/>
          </p15:clr>
        </p15:guide>
        <p15:guide id="3" pos="13824">
          <p15:clr>
            <a:srgbClr val="A4A3A4"/>
          </p15:clr>
        </p15:guide>
      </p15:sldGuideLst>
    </p:ext>
    <p:ext uri="GoogleSlidesCustomDataVersion2">
      <go:slidesCustomData xmlns:go="http://customooxmlschemas.google.com/" r:id="rId8" roundtripDataSignature="AMtx7mjMq7LO3r67p6Vu7MKKlIl/bIDE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FE4606-C18B-4FD9-BE71-F87F825A702C}">
  <a:tblStyle styleId="{42FE4606-C18B-4FD9-BE71-F87F825A702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1808"/>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Macro-Enabled_Worksheet1.xlsm"/></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Macro-Enabled_Worksheet4.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3200" b="1" dirty="0">
                <a:solidFill>
                  <a:schemeClr val="tx1"/>
                </a:solidFill>
              </a:rPr>
              <a:t>Chart</a:t>
            </a:r>
            <a:r>
              <a:rPr lang="en-US" sz="3200" b="1" baseline="0" dirty="0">
                <a:solidFill>
                  <a:schemeClr val="tx1"/>
                </a:solidFill>
              </a:rPr>
              <a:t> Title</a:t>
            </a:r>
            <a:endParaRPr lang="en-US" sz="3200" b="1" dirty="0">
              <a:solidFill>
                <a:schemeClr val="tx1"/>
              </a:solidFill>
            </a:endParaRPr>
          </a:p>
        </c:rich>
      </c:tx>
      <c:layout>
        <c:manualLayout>
          <c:xMode val="edge"/>
          <c:yMode val="edge"/>
          <c:x val="0.28801728777489699"/>
          <c:y val="4.9237205471233801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46FA-2F45-885E-8316E7B30EE4}"/>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46FA-2F45-885E-8316E7B30EE4}"/>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46FA-2F45-885E-8316E7B30EE4}"/>
              </c:ext>
            </c:extLst>
          </c:dPt>
          <c:cat>
            <c:strRef>
              <c:f>Sheet1!$A$2:$A$4</c:f>
              <c:strCache>
                <c:ptCount val="3"/>
                <c:pt idx="0">
                  <c:v>Series 1</c:v>
                </c:pt>
                <c:pt idx="1">
                  <c:v>Series 2</c:v>
                </c:pt>
                <c:pt idx="2">
                  <c:v>Series 3</c:v>
                </c:pt>
              </c:strCache>
            </c:strRef>
          </c:cat>
          <c:val>
            <c:numRef>
              <c:f>Sheet1!$B$2:$B$4</c:f>
              <c:numCache>
                <c:formatCode>General</c:formatCode>
                <c:ptCount val="3"/>
                <c:pt idx="0">
                  <c:v>8.2000000000000011</c:v>
                </c:pt>
                <c:pt idx="1">
                  <c:v>3.2</c:v>
                </c:pt>
                <c:pt idx="2">
                  <c:v>1.4</c:v>
                </c:pt>
              </c:numCache>
            </c:numRef>
          </c:val>
          <c:extLst>
            <c:ext xmlns:c16="http://schemas.microsoft.com/office/drawing/2014/chart" uri="{C3380CC4-5D6E-409C-BE32-E72D297353CC}">
              <c16:uniqueId val="{00000006-46FA-2F45-885E-8316E7B30EE4}"/>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4.5612439395706701E-2"/>
          <c:y val="0.89354195260385805"/>
          <c:w val="0.93038430396361005"/>
          <c:h val="7.3836395450568498E-2"/>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Title</a:t>
            </a:r>
          </a:p>
        </c:rich>
      </c:tx>
      <c:layout>
        <c:manualLayout>
          <c:xMode val="edge"/>
          <c:yMode val="edge"/>
          <c:x val="0.26578031806312102"/>
          <c:y val="8.8675100073389898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CC39-BA4C-9272-6710DC73D80C}"/>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CC39-BA4C-9272-6710DC73D80C}"/>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CC39-BA4C-9272-6710DC73D80C}"/>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6.4</c:v>
                </c:pt>
              </c:numCache>
            </c:numRef>
          </c:val>
          <c:extLst>
            <c:ext xmlns:c16="http://schemas.microsoft.com/office/drawing/2014/chart" uri="{C3380CC4-5D6E-409C-BE32-E72D297353CC}">
              <c16:uniqueId val="{00000006-CC39-BA4C-9272-6710DC73D80C}"/>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2.4733848212852901E-2"/>
          <c:y val="0.80265924102539998"/>
          <c:w val="0.96966312131297205"/>
          <c:h val="0.197340722688188"/>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Title</a:t>
            </a:r>
          </a:p>
        </c:rich>
      </c:tx>
      <c:layout>
        <c:manualLayout>
          <c:xMode val="edge"/>
          <c:yMode val="edge"/>
          <c:x val="0.27157165791239501"/>
          <c:y val="8.8675100073389898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5EFE-2841-9468-BC6223B4566A}"/>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5EFE-2841-9468-BC6223B4566A}"/>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5EFE-2841-9468-BC6223B4566A}"/>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1.4</c:v>
                </c:pt>
              </c:numCache>
            </c:numRef>
          </c:val>
          <c:extLst>
            <c:ext xmlns:c16="http://schemas.microsoft.com/office/drawing/2014/chart" uri="{C3380CC4-5D6E-409C-BE32-E72D297353CC}">
              <c16:uniqueId val="{00000006-5EFE-2841-9468-BC6223B4566A}"/>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2.4733848212852901E-2"/>
          <c:y val="0.80265924102539998"/>
          <c:w val="0.96966312131297205"/>
          <c:h val="0.1731296287569110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solidFill>
                <a:latin typeface="Arial" charset="0"/>
                <a:ea typeface="Arial" charset="0"/>
                <a:cs typeface="Arial" charset="0"/>
              </a:defRPr>
            </a:pPr>
            <a:r>
              <a:rPr lang="en-US" sz="3600" b="1" dirty="0">
                <a:solidFill>
                  <a:schemeClr val="tx1"/>
                </a:solidFill>
                <a:latin typeface="Arial" charset="0"/>
                <a:ea typeface="Arial" charset="0"/>
                <a:cs typeface="Arial" charset="0"/>
              </a:rPr>
              <a:t>Chart</a:t>
            </a:r>
            <a:r>
              <a:rPr lang="en-US" sz="3600" b="1" baseline="0" dirty="0">
                <a:solidFill>
                  <a:schemeClr val="tx1"/>
                </a:solidFill>
                <a:latin typeface="Arial" charset="0"/>
                <a:ea typeface="Arial" charset="0"/>
                <a:cs typeface="Arial" charset="0"/>
              </a:rPr>
              <a:t> Title</a:t>
            </a:r>
            <a:endParaRPr lang="en-US" sz="3600" b="1" dirty="0">
              <a:solidFill>
                <a:schemeClr val="tx1"/>
              </a:solidFill>
              <a:latin typeface="Arial" charset="0"/>
              <a:ea typeface="Arial" charset="0"/>
              <a:cs typeface="Arial" charset="0"/>
            </a:endParaRPr>
          </a:p>
        </c:rich>
      </c:tx>
      <c:layout>
        <c:manualLayout>
          <c:xMode val="edge"/>
          <c:yMode val="edge"/>
          <c:x val="0.38284917498069099"/>
          <c:y val="2.46956303721842E-2"/>
        </c:manualLayout>
      </c:layout>
      <c:overlay val="0"/>
      <c:spPr>
        <a:noFill/>
        <a:ln w="37084">
          <a:noFill/>
        </a:ln>
      </c:spPr>
    </c:title>
    <c:autoTitleDeleted val="0"/>
    <c:plotArea>
      <c:layout>
        <c:manualLayout>
          <c:layoutTarget val="inner"/>
          <c:xMode val="edge"/>
          <c:yMode val="edge"/>
          <c:x val="7.1945587198555094E-2"/>
          <c:y val="0.18243447742298799"/>
          <c:w val="0.89237340955380096"/>
          <c:h val="0.57293203472888399"/>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3E1-9B42-A172-38853338F357}"/>
            </c:ext>
          </c:extLst>
        </c:ser>
        <c:ser>
          <c:idx val="1"/>
          <c:order val="1"/>
          <c:tx>
            <c:strRef>
              <c:f>Sheet1!$C$1</c:f>
              <c:strCache>
                <c:ptCount val="1"/>
                <c:pt idx="0">
                  <c:v>Series 2</c:v>
                </c:pt>
              </c:strCache>
            </c:strRef>
          </c:tx>
          <c:spPr>
            <a:solidFill>
              <a:srgbClr val="41B6E6"/>
            </a:solid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3E1-9B42-A172-38853338F357}"/>
            </c:ext>
          </c:extLst>
        </c:ser>
        <c:ser>
          <c:idx val="2"/>
          <c:order val="2"/>
          <c:tx>
            <c:strRef>
              <c:f>Sheet1!$D$1</c:f>
              <c:strCache>
                <c:ptCount val="1"/>
                <c:pt idx="0">
                  <c:v>Series 3</c:v>
                </c:pt>
              </c:strCache>
            </c:strRef>
          </c:tx>
          <c:spPr>
            <a:solidFill>
              <a:srgbClr val="E56D54"/>
            </a:solid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3E1-9B42-A172-38853338F357}"/>
            </c:ext>
          </c:extLst>
        </c:ser>
        <c:dLbls>
          <c:showLegendKey val="0"/>
          <c:showVal val="0"/>
          <c:showCatName val="0"/>
          <c:showSerName val="0"/>
          <c:showPercent val="0"/>
          <c:showBubbleSize val="0"/>
        </c:dLbls>
        <c:gapWidth val="219"/>
        <c:overlap val="-27"/>
        <c:axId val="2072176200"/>
        <c:axId val="2078075352"/>
      </c:barChart>
      <c:catAx>
        <c:axId val="2072176200"/>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Arial" charset="0"/>
                <a:ea typeface="Arial" charset="0"/>
                <a:cs typeface="Arial" charset="0"/>
              </a:defRPr>
            </a:pPr>
            <a:endParaRPr lang="en-US"/>
          </a:p>
        </c:txPr>
        <c:crossAx val="2078075352"/>
        <c:crosses val="autoZero"/>
        <c:auto val="1"/>
        <c:lblAlgn val="ctr"/>
        <c:lblOffset val="100"/>
        <c:noMultiLvlLbl val="0"/>
      </c:catAx>
      <c:valAx>
        <c:axId val="2078075352"/>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solidFill>
                <a:latin typeface="Arial" charset="0"/>
                <a:ea typeface="Arial" charset="0"/>
                <a:cs typeface="Arial" charset="0"/>
              </a:defRPr>
            </a:pPr>
            <a:endParaRPr lang="en-US"/>
          </a:p>
        </c:txPr>
        <c:crossAx val="2072176200"/>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Entry>
      <c:layout>
        <c:manualLayout>
          <c:xMode val="edge"/>
          <c:yMode val="edge"/>
          <c:x val="0.18812787853590801"/>
          <c:y val="0.91175179819735896"/>
          <c:w val="0.68548392999304697"/>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
    <c:plotVisOnly val="1"/>
    <c:dispBlanksAs val="gap"/>
    <c:showDLblsOverMax val="0"/>
  </c:chart>
  <c:spPr>
    <a:solidFill>
      <a:schemeClr val="bg1">
        <a:alpha val="62000"/>
      </a:schemeClr>
    </a:solidFill>
    <a:ln>
      <a:noFill/>
    </a:ln>
    <a:effectLst/>
  </c:spPr>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5" name="Shape 15"/>
        <p:cNvGrpSpPr/>
        <p:nvPr/>
      </p:nvGrpSpPr>
      <p:grpSpPr>
        <a:xfrm>
          <a:off x="0" y="0"/>
          <a:ext cx="0" cy="0"/>
          <a:chOff x="0" y="0"/>
          <a:chExt cx="0" cy="0"/>
        </a:xfrm>
      </p:grpSpPr>
      <p:cxnSp>
        <p:nvCxnSpPr>
          <p:cNvPr id="16" name="Google Shape;16;p3"/>
          <p:cNvCxnSpPr/>
          <p:nvPr/>
        </p:nvCxnSpPr>
        <p:spPr>
          <a:xfrm>
            <a:off x="11169060" y="6431836"/>
            <a:ext cx="0" cy="24886364"/>
          </a:xfrm>
          <a:prstGeom prst="straightConnector1">
            <a:avLst/>
          </a:prstGeom>
          <a:noFill/>
          <a:ln cap="flat" cmpd="tri" w="76200">
            <a:solidFill>
              <a:schemeClr val="dk1"/>
            </a:solidFill>
            <a:prstDash val="solid"/>
            <a:round/>
            <a:headEnd len="med" w="med" type="oval"/>
            <a:tailEnd len="med" w="med" type="oval"/>
          </a:ln>
        </p:spPr>
      </p:cxnSp>
      <p:cxnSp>
        <p:nvCxnSpPr>
          <p:cNvPr id="17" name="Google Shape;17;p3"/>
          <p:cNvCxnSpPr/>
          <p:nvPr/>
        </p:nvCxnSpPr>
        <p:spPr>
          <a:xfrm>
            <a:off x="11307763" y="7009765"/>
            <a:ext cx="914400" cy="914400"/>
          </a:xfrm>
          <a:prstGeom prst="straightConnector1">
            <a:avLst/>
          </a:prstGeom>
          <a:noFill/>
          <a:ln>
            <a:noFill/>
          </a:ln>
        </p:spPr>
      </p:cxnSp>
      <p:cxnSp>
        <p:nvCxnSpPr>
          <p:cNvPr id="18" name="Google Shape;18;p3"/>
          <p:cNvCxnSpPr/>
          <p:nvPr/>
        </p:nvCxnSpPr>
        <p:spPr>
          <a:xfrm>
            <a:off x="21945600" y="6431836"/>
            <a:ext cx="0" cy="24886364"/>
          </a:xfrm>
          <a:prstGeom prst="straightConnector1">
            <a:avLst/>
          </a:prstGeom>
          <a:noFill/>
          <a:ln cap="flat" cmpd="tri" w="76200">
            <a:solidFill>
              <a:schemeClr val="dk1"/>
            </a:solidFill>
            <a:prstDash val="solid"/>
            <a:round/>
            <a:headEnd len="med" w="med" type="oval"/>
            <a:tailEnd len="med" w="med" type="oval"/>
          </a:ln>
        </p:spPr>
      </p:cxnSp>
      <p:cxnSp>
        <p:nvCxnSpPr>
          <p:cNvPr id="19" name="Google Shape;19;p3"/>
          <p:cNvCxnSpPr/>
          <p:nvPr/>
        </p:nvCxnSpPr>
        <p:spPr>
          <a:xfrm>
            <a:off x="32577212" y="6431836"/>
            <a:ext cx="0" cy="24886364"/>
          </a:xfrm>
          <a:prstGeom prst="straightConnector1">
            <a:avLst/>
          </a:prstGeom>
          <a:noFill/>
          <a:ln cap="flat" cmpd="tri" w="88900">
            <a:solidFill>
              <a:schemeClr val="dk1"/>
            </a:solidFill>
            <a:prstDash val="solid"/>
            <a:round/>
            <a:headEnd len="med" w="med" type="oval"/>
            <a:tailEnd len="med" w="med" type="oval"/>
          </a:ln>
        </p:spPr>
      </p:cxnSp>
      <p:sp>
        <p:nvSpPr>
          <p:cNvPr id="20" name="Google Shape;20;p3"/>
          <p:cNvSpPr txBox="1"/>
          <p:nvPr>
            <p:ph idx="1" type="body"/>
          </p:nvPr>
        </p:nvSpPr>
        <p:spPr>
          <a:xfrm>
            <a:off x="914400" y="6644640"/>
            <a:ext cx="9798050" cy="1487424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1" name="Google Shape;21;p3"/>
          <p:cNvSpPr/>
          <p:nvPr>
            <p:ph idx="2" type="pic"/>
          </p:nvPr>
        </p:nvSpPr>
        <p:spPr>
          <a:xfrm>
            <a:off x="914400" y="21843852"/>
            <a:ext cx="9798050" cy="7452360"/>
          </a:xfrm>
          <a:prstGeom prst="rect">
            <a:avLst/>
          </a:prstGeom>
          <a:solidFill>
            <a:srgbClr val="D8D8D8"/>
          </a:solidFill>
          <a:ln>
            <a:noFill/>
          </a:ln>
        </p:spPr>
      </p:sp>
      <p:sp>
        <p:nvSpPr>
          <p:cNvPr id="22" name="Google Shape;22;p3"/>
          <p:cNvSpPr/>
          <p:nvPr>
            <p:ph idx="3" type="pic"/>
          </p:nvPr>
        </p:nvSpPr>
        <p:spPr>
          <a:xfrm>
            <a:off x="33046966" y="17186910"/>
            <a:ext cx="9798050" cy="7452360"/>
          </a:xfrm>
          <a:prstGeom prst="rect">
            <a:avLst/>
          </a:prstGeom>
          <a:solidFill>
            <a:srgbClr val="D8D8D8"/>
          </a:solidFill>
          <a:ln>
            <a:noFill/>
          </a:ln>
        </p:spPr>
      </p:sp>
      <p:sp>
        <p:nvSpPr>
          <p:cNvPr id="23" name="Google Shape;23;p3"/>
          <p:cNvSpPr txBox="1"/>
          <p:nvPr>
            <p:ph idx="4" type="body"/>
          </p:nvPr>
        </p:nvSpPr>
        <p:spPr>
          <a:xfrm>
            <a:off x="11674474" y="6644640"/>
            <a:ext cx="9798050" cy="2292096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4" name="Google Shape;24;p3"/>
          <p:cNvSpPr txBox="1"/>
          <p:nvPr>
            <p:ph idx="5" type="body"/>
          </p:nvPr>
        </p:nvSpPr>
        <p:spPr>
          <a:xfrm>
            <a:off x="22516542" y="6705600"/>
            <a:ext cx="9448423" cy="664464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5" name="Google Shape;25;p3"/>
          <p:cNvSpPr txBox="1"/>
          <p:nvPr>
            <p:ph idx="6" type="body"/>
          </p:nvPr>
        </p:nvSpPr>
        <p:spPr>
          <a:xfrm>
            <a:off x="33046966" y="6705600"/>
            <a:ext cx="9798050" cy="993648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6" name="Google Shape;26;p3"/>
          <p:cNvSpPr txBox="1"/>
          <p:nvPr>
            <p:ph idx="7" type="body"/>
          </p:nvPr>
        </p:nvSpPr>
        <p:spPr>
          <a:xfrm>
            <a:off x="33046966" y="25130235"/>
            <a:ext cx="9798050" cy="4252487"/>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7" name="Google Shape;27;p3"/>
          <p:cNvSpPr/>
          <p:nvPr>
            <p:ph idx="8" type="chart"/>
          </p:nvPr>
        </p:nvSpPr>
        <p:spPr>
          <a:xfrm>
            <a:off x="22513521" y="14194529"/>
            <a:ext cx="9454334" cy="69421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854"/>
              </a:spcBef>
              <a:spcAft>
                <a:spcPts val="0"/>
              </a:spcAft>
              <a:buClr>
                <a:schemeClr val="dk1"/>
              </a:buClr>
              <a:buSzPts val="2392"/>
              <a:buFont typeface="Arial"/>
              <a:buChar char="•"/>
              <a:defRPr b="0" i="0" sz="2392" u="none" cap="none" strike="noStrike">
                <a:solidFill>
                  <a:schemeClr val="dk1"/>
                </a:solidFill>
                <a:latin typeface="Arial"/>
                <a:ea typeface="Arial"/>
                <a:cs typeface="Arial"/>
                <a:sym typeface="Arial"/>
              </a:defRPr>
            </a:lvl1pPr>
            <a:lvl2pPr lvl="1" marR="0" rtl="0" algn="l">
              <a:lnSpc>
                <a:spcPct val="90000"/>
              </a:lnSpc>
              <a:spcBef>
                <a:spcPts val="427"/>
              </a:spcBef>
              <a:spcAft>
                <a:spcPts val="0"/>
              </a:spcAft>
              <a:buClr>
                <a:schemeClr val="dk1"/>
              </a:buClr>
              <a:buSzPts val="2050"/>
              <a:buFont typeface="Arial"/>
              <a:buChar char="•"/>
              <a:defRPr b="0" i="0" sz="2050" u="none" cap="none" strike="noStrike">
                <a:solidFill>
                  <a:schemeClr val="dk1"/>
                </a:solidFill>
                <a:latin typeface="Arial"/>
                <a:ea typeface="Arial"/>
                <a:cs typeface="Arial"/>
                <a:sym typeface="Arial"/>
              </a:defRPr>
            </a:lvl2pPr>
            <a:lvl3pPr lvl="2" marR="0" rtl="0" algn="l">
              <a:lnSpc>
                <a:spcPct val="90000"/>
              </a:lnSpc>
              <a:spcBef>
                <a:spcPts val="427"/>
              </a:spcBef>
              <a:spcAft>
                <a:spcPts val="0"/>
              </a:spcAft>
              <a:buClr>
                <a:schemeClr val="dk1"/>
              </a:buClr>
              <a:buSzPts val="1708"/>
              <a:buFont typeface="Arial"/>
              <a:buChar char="•"/>
              <a:defRPr b="0" i="0" sz="1708" u="none" cap="none" strike="noStrike">
                <a:solidFill>
                  <a:schemeClr val="dk1"/>
                </a:solidFill>
                <a:latin typeface="Arial"/>
                <a:ea typeface="Arial"/>
                <a:cs typeface="Arial"/>
                <a:sym typeface="Arial"/>
              </a:defRPr>
            </a:lvl3pPr>
            <a:lvl4pPr lvl="3"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4pPr>
            <a:lvl5pPr lvl="4"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5pPr>
            <a:lvl6pPr lvl="5"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lvl="6"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lvl="7"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lvl="8"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
        <p:nvSpPr>
          <p:cNvPr id="28" name="Google Shape;28;p3"/>
          <p:cNvSpPr txBox="1"/>
          <p:nvPr>
            <p:ph idx="9" type="body"/>
          </p:nvPr>
        </p:nvSpPr>
        <p:spPr>
          <a:xfrm>
            <a:off x="22513522" y="21847581"/>
            <a:ext cx="9417420" cy="7596100"/>
          </a:xfrm>
          <a:prstGeom prst="rect">
            <a:avLst/>
          </a:prstGeom>
          <a:noFill/>
          <a:ln>
            <a:noFill/>
          </a:ln>
        </p:spPr>
        <p:txBody>
          <a:bodyPr anchorCtr="0" anchor="t" bIns="45700" lIns="91425" spcFirstLastPara="1" rIns="91425" wrap="square" tIns="45700">
            <a:noAutofit/>
          </a:bodyPr>
          <a:lstStyle>
            <a:lvl1pPr indent="-380492" lvl="0" marL="4572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1pPr>
            <a:lvl2pPr indent="-380492" lvl="1" marL="9144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2pPr>
            <a:lvl3pPr indent="-380492" lvl="2" marL="13716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3pPr>
            <a:lvl4pPr indent="-380492" lvl="3" marL="1828800" marR="0" rtl="0" algn="l">
              <a:lnSpc>
                <a:spcPct val="164255"/>
              </a:lnSpc>
              <a:spcBef>
                <a:spcPts val="0"/>
              </a:spcBef>
              <a:spcAft>
                <a:spcPts val="0"/>
              </a:spcAft>
              <a:buClr>
                <a:srgbClr val="7F7F7F"/>
              </a:buClr>
              <a:buSzPts val="2392"/>
              <a:buFont typeface="Arial"/>
              <a:buChar char="•"/>
              <a:defRPr b="0" i="0" sz="2392" u="none" cap="none" strike="noStrike">
                <a:solidFill>
                  <a:srgbClr val="7F7F7F"/>
                </a:solidFill>
                <a:latin typeface="Arial"/>
                <a:ea typeface="Arial"/>
                <a:cs typeface="Arial"/>
                <a:sym typeface="Arial"/>
              </a:defRPr>
            </a:lvl4pPr>
            <a:lvl5pPr indent="-380492" lvl="4" marL="2286000" marR="0" rtl="0" algn="l">
              <a:lnSpc>
                <a:spcPct val="164255"/>
              </a:lnSpc>
              <a:spcBef>
                <a:spcPts val="0"/>
              </a:spcBef>
              <a:spcAft>
                <a:spcPts val="0"/>
              </a:spcAft>
              <a:buClr>
                <a:srgbClr val="245EAC"/>
              </a:buClr>
              <a:buSzPts val="2392"/>
              <a:buFont typeface="Arial"/>
              <a:buChar char="•"/>
              <a:defRPr b="0" i="0" sz="2392" u="none" cap="none" strike="noStrike">
                <a:solidFill>
                  <a:srgbClr val="7F7F7F"/>
                </a:solidFill>
                <a:latin typeface="Arial"/>
                <a:ea typeface="Arial"/>
                <a:cs typeface="Arial"/>
                <a:sym typeface="Arial"/>
              </a:defRPr>
            </a:lvl5pPr>
            <a:lvl6pPr indent="-326263" lvl="5" marL="27432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6pPr>
            <a:lvl7pPr indent="-326263" lvl="6" marL="32004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7pPr>
            <a:lvl8pPr indent="-326263" lvl="7" marL="36576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8pPr>
            <a:lvl9pPr indent="-326263" lvl="8" marL="4114800" marR="0" rtl="0" algn="l">
              <a:lnSpc>
                <a:spcPct val="90000"/>
              </a:lnSpc>
              <a:spcBef>
                <a:spcPts val="427"/>
              </a:spcBef>
              <a:spcAft>
                <a:spcPts val="0"/>
              </a:spcAft>
              <a:buClr>
                <a:schemeClr val="dk1"/>
              </a:buClr>
              <a:buSzPts val="1538"/>
              <a:buFont typeface="Arial"/>
              <a:buChar char="•"/>
              <a:defRPr b="0" i="0" sz="1538"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0" y="0"/>
            <a:ext cx="43891200" cy="54864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Arial"/>
              <a:ea typeface="Arial"/>
              <a:cs typeface="Arial"/>
              <a:sym typeface="Arial"/>
            </a:endParaRPr>
          </a:p>
        </p:txBody>
      </p:sp>
      <p:sp>
        <p:nvSpPr>
          <p:cNvPr id="7" name="Google Shape;7;p2"/>
          <p:cNvSpPr/>
          <p:nvPr/>
        </p:nvSpPr>
        <p:spPr>
          <a:xfrm>
            <a:off x="0" y="5257801"/>
            <a:ext cx="43891200" cy="265176"/>
          </a:xfrm>
          <a:prstGeom prst="rect">
            <a:avLst/>
          </a:prstGeom>
          <a:solidFill>
            <a:srgbClr val="8D506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258"/>
              <a:buFont typeface="Arial"/>
              <a:buNone/>
            </a:pPr>
            <a:r>
              <a:t/>
            </a:r>
            <a:endParaRPr b="0" i="0" sz="7258" u="none" cap="none" strike="noStrike">
              <a:solidFill>
                <a:schemeClr val="lt1"/>
              </a:solidFill>
              <a:latin typeface="Arial"/>
              <a:ea typeface="Arial"/>
              <a:cs typeface="Arial"/>
              <a:sym typeface="Arial"/>
            </a:endParaRPr>
          </a:p>
        </p:txBody>
      </p:sp>
      <p:sp>
        <p:nvSpPr>
          <p:cNvPr id="8" name="Google Shape;8;p2"/>
          <p:cNvSpPr/>
          <p:nvPr/>
        </p:nvSpPr>
        <p:spPr>
          <a:xfrm>
            <a:off x="0" y="31470600"/>
            <a:ext cx="43891200" cy="14478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Arial"/>
              <a:ea typeface="Arial"/>
              <a:cs typeface="Arial"/>
              <a:sym typeface="Arial"/>
            </a:endParaRPr>
          </a:p>
        </p:txBody>
      </p:sp>
      <p:cxnSp>
        <p:nvCxnSpPr>
          <p:cNvPr id="9" name="Google Shape;9;p2"/>
          <p:cNvCxnSpPr/>
          <p:nvPr/>
        </p:nvCxnSpPr>
        <p:spPr>
          <a:xfrm>
            <a:off x="31543262" y="30837464"/>
            <a:ext cx="0" cy="1588169"/>
          </a:xfrm>
          <a:prstGeom prst="straightConnector1">
            <a:avLst/>
          </a:prstGeom>
          <a:noFill/>
          <a:ln cap="flat" cmpd="sng" w="25400">
            <a:solidFill>
              <a:schemeClr val="lt1"/>
            </a:solidFill>
            <a:prstDash val="dash"/>
            <a:miter lim="800000"/>
            <a:headEnd len="sm" w="sm" type="none"/>
            <a:tailEnd len="sm" w="sm" type="none"/>
          </a:ln>
        </p:spPr>
      </p:cxnSp>
      <p:pic>
        <p:nvPicPr>
          <p:cNvPr id="10" name="Google Shape;10;p2"/>
          <p:cNvPicPr preferRelativeResize="0"/>
          <p:nvPr/>
        </p:nvPicPr>
        <p:blipFill rotWithShape="1">
          <a:blip r:embed="rId1">
            <a:alphaModFix/>
          </a:blip>
          <a:srcRect b="0" l="0" r="0" t="0"/>
          <a:stretch/>
        </p:blipFill>
        <p:spPr>
          <a:xfrm>
            <a:off x="1" y="0"/>
            <a:ext cx="37322118" cy="2503724"/>
          </a:xfrm>
          <a:prstGeom prst="rect">
            <a:avLst/>
          </a:prstGeom>
          <a:noFill/>
          <a:ln>
            <a:noFill/>
          </a:ln>
        </p:spPr>
      </p:pic>
      <p:pic>
        <p:nvPicPr>
          <p:cNvPr id="11" name="Google Shape;11;p2"/>
          <p:cNvPicPr preferRelativeResize="0"/>
          <p:nvPr/>
        </p:nvPicPr>
        <p:blipFill rotWithShape="1">
          <a:blip r:embed="rId1">
            <a:alphaModFix/>
          </a:blip>
          <a:srcRect b="0" l="65059" r="0" t="0"/>
          <a:stretch/>
        </p:blipFill>
        <p:spPr>
          <a:xfrm>
            <a:off x="1" y="31434024"/>
            <a:ext cx="43939859" cy="1471433"/>
          </a:xfrm>
          <a:prstGeom prst="rect">
            <a:avLst/>
          </a:prstGeom>
          <a:noFill/>
          <a:ln>
            <a:noFill/>
          </a:ln>
        </p:spPr>
      </p:pic>
      <p:pic>
        <p:nvPicPr>
          <p:cNvPr id="12" name="Google Shape;12;p2"/>
          <p:cNvPicPr preferRelativeResize="0"/>
          <p:nvPr/>
        </p:nvPicPr>
        <p:blipFill rotWithShape="1">
          <a:blip r:embed="rId1">
            <a:alphaModFix/>
          </a:blip>
          <a:srcRect b="0" l="65059" r="0" t="0"/>
          <a:stretch/>
        </p:blipFill>
        <p:spPr>
          <a:xfrm>
            <a:off x="1" y="2503724"/>
            <a:ext cx="43891201" cy="2982676"/>
          </a:xfrm>
          <a:prstGeom prst="rect">
            <a:avLst/>
          </a:prstGeom>
          <a:noFill/>
          <a:ln>
            <a:noFill/>
          </a:ln>
        </p:spPr>
      </p:pic>
      <p:pic>
        <p:nvPicPr>
          <p:cNvPr id="13" name="Google Shape;13;p2"/>
          <p:cNvPicPr preferRelativeResize="0"/>
          <p:nvPr/>
        </p:nvPicPr>
        <p:blipFill rotWithShape="1">
          <a:blip r:embed="rId1">
            <a:alphaModFix/>
          </a:blip>
          <a:srcRect b="0" l="65059" r="0" t="0"/>
          <a:stretch/>
        </p:blipFill>
        <p:spPr>
          <a:xfrm>
            <a:off x="36157168" y="0"/>
            <a:ext cx="7734033" cy="2982676"/>
          </a:xfrm>
          <a:prstGeom prst="rect">
            <a:avLst/>
          </a:prstGeom>
          <a:noFill/>
          <a:ln>
            <a:noFill/>
          </a:ln>
        </p:spPr>
      </p:pic>
      <p:pic>
        <p:nvPicPr>
          <p:cNvPr id="14" name="Google Shape;14;p2"/>
          <p:cNvPicPr preferRelativeResize="0"/>
          <p:nvPr/>
        </p:nvPicPr>
        <p:blipFill rotWithShape="1">
          <a:blip r:embed="rId1">
            <a:alphaModFix/>
          </a:blip>
          <a:srcRect b="0" l="65059" r="0" t="0"/>
          <a:stretch/>
        </p:blipFill>
        <p:spPr>
          <a:xfrm>
            <a:off x="1" y="31470601"/>
            <a:ext cx="43891201" cy="9550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cs.ir" TargetMode="External"/><Relationship Id="rId10" Type="http://schemas.openxmlformats.org/officeDocument/2006/relationships/hyperlink" Target="https://arxiv.org/abs/2410.05779" TargetMode="External"/><Relationship Id="rId13" Type="http://schemas.openxmlformats.org/officeDocument/2006/relationships/image" Target="../media/image3.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image" Target="../media/image5.png"/><Relationship Id="rId9" Type="http://schemas.openxmlformats.org/officeDocument/2006/relationships/chart" Target="../charts/chart4.xml"/><Relationship Id="rId5" Type="http://schemas.openxmlformats.org/officeDocument/2006/relationships/chart" Target="../charts/chart2.xml"/><Relationship Id="rId6" Type="http://schemas.openxmlformats.org/officeDocument/2006/relationships/image" Target="../media/image2.png"/><Relationship Id="rId7" Type="http://schemas.openxmlformats.org/officeDocument/2006/relationships/chart" Target="../charts/chart3.xml"/><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1"/>
          <p:cNvSpPr/>
          <p:nvPr/>
        </p:nvSpPr>
        <p:spPr>
          <a:xfrm>
            <a:off x="1688825" y="1207050"/>
            <a:ext cx="40679649" cy="3423704"/>
          </a:xfrm>
          <a:prstGeom prst="rect">
            <a:avLst/>
          </a:prstGeom>
          <a:noFill/>
          <a:ln>
            <a:noFill/>
          </a:ln>
        </p:spPr>
        <p:txBody>
          <a:bodyPr anchorCtr="0" anchor="t" bIns="38950" lIns="77925" spcFirstLastPara="1" rIns="77925" wrap="square" tIns="38950">
            <a:spAutoFit/>
          </a:bodyPr>
          <a:lstStyle/>
          <a:p>
            <a:pPr indent="0" lvl="0" marL="0" marR="0" rtl="0" algn="ctr">
              <a:lnSpc>
                <a:spcPct val="100000"/>
              </a:lnSpc>
              <a:spcBef>
                <a:spcPts val="0"/>
              </a:spcBef>
              <a:spcAft>
                <a:spcPts val="0"/>
              </a:spcAft>
              <a:buClr>
                <a:srgbClr val="000000"/>
              </a:buClr>
              <a:buSzPts val="8800"/>
              <a:buFont typeface="Arial"/>
              <a:buNone/>
            </a:pPr>
            <a:r>
              <a:rPr b="1" lang="en-US" sz="8800">
                <a:solidFill>
                  <a:schemeClr val="lt1"/>
                </a:solidFill>
              </a:rPr>
              <a:t>Autonomous University Robotic Assistant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13"/>
              </a:spcBef>
              <a:spcAft>
                <a:spcPts val="0"/>
              </a:spcAft>
              <a:buClr>
                <a:srgbClr val="000000"/>
              </a:buClr>
              <a:buSzPts val="5400"/>
              <a:buFont typeface="Arial"/>
              <a:buNone/>
            </a:pPr>
            <a:r>
              <a:rPr b="1" lang="en-US" sz="5400">
                <a:solidFill>
                  <a:schemeClr val="lt1"/>
                </a:solidFill>
              </a:rPr>
              <a:t>Michael Fritzer, Muhammed Faseeh, David Haybarger, Kevin Lee</a:t>
            </a:r>
            <a:endParaRPr b="1" i="0" sz="5400" u="none" cap="none" strike="noStrike">
              <a:solidFill>
                <a:schemeClr val="lt1"/>
              </a:solidFill>
              <a:latin typeface="Arial"/>
              <a:ea typeface="Arial"/>
              <a:cs typeface="Arial"/>
              <a:sym typeface="Arial"/>
            </a:endParaRPr>
          </a:p>
          <a:p>
            <a:pPr indent="0" lvl="0" marL="0" marR="0" rtl="0" algn="ctr">
              <a:lnSpc>
                <a:spcPct val="100000"/>
              </a:lnSpc>
              <a:spcBef>
                <a:spcPts val="2051"/>
              </a:spcBef>
              <a:spcAft>
                <a:spcPts val="0"/>
              </a:spcAft>
              <a:buClr>
                <a:srgbClr val="000000"/>
              </a:buClr>
              <a:buSzPts val="5400"/>
              <a:buFont typeface="Arial"/>
              <a:buNone/>
            </a:pPr>
            <a:r>
              <a:rPr b="1" lang="en-US" sz="5400">
                <a:solidFill>
                  <a:schemeClr val="lt1"/>
                </a:solidFill>
              </a:rPr>
              <a:t>Byung-Jun Yoon</a:t>
            </a:r>
            <a:endParaRPr b="0" i="0" sz="1400" u="none" cap="none" strike="noStrike">
              <a:solidFill>
                <a:srgbClr val="000000"/>
              </a:solidFill>
              <a:latin typeface="Arial"/>
              <a:ea typeface="Arial"/>
              <a:cs typeface="Arial"/>
              <a:sym typeface="Arial"/>
            </a:endParaRPr>
          </a:p>
        </p:txBody>
      </p:sp>
      <p:sp>
        <p:nvSpPr>
          <p:cNvPr descr="Problem Definition" id="34" name="Google Shape;34;p1"/>
          <p:cNvSpPr txBox="1"/>
          <p:nvPr/>
        </p:nvSpPr>
        <p:spPr>
          <a:xfrm>
            <a:off x="914400" y="7003709"/>
            <a:ext cx="9829801" cy="4735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77"/>
              <a:buFont typeface="Arial"/>
              <a:buNone/>
            </a:pPr>
            <a:r>
              <a:t/>
            </a:r>
            <a:endParaRPr b="0" i="0" sz="2477" u="none" cap="none" strike="noStrike">
              <a:solidFill>
                <a:schemeClr val="dk1"/>
              </a:solidFill>
              <a:latin typeface="Arial"/>
              <a:ea typeface="Arial"/>
              <a:cs typeface="Arial"/>
              <a:sym typeface="Arial"/>
            </a:endParaRPr>
          </a:p>
        </p:txBody>
      </p:sp>
      <p:sp>
        <p:nvSpPr>
          <p:cNvPr id="35" name="Google Shape;35;p1"/>
          <p:cNvSpPr txBox="1"/>
          <p:nvPr/>
        </p:nvSpPr>
        <p:spPr>
          <a:xfrm>
            <a:off x="1004338" y="6265738"/>
            <a:ext cx="9667800" cy="6348900"/>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400" u="sng" cap="none" strike="noStrike">
                <a:solidFill>
                  <a:srgbClr val="5D0025"/>
                </a:solidFill>
                <a:latin typeface="Arial"/>
                <a:ea typeface="Arial"/>
                <a:cs typeface="Arial"/>
                <a:sym typeface="Arial"/>
              </a:rPr>
              <a:t>Problem Definition</a:t>
            </a:r>
            <a:endParaRPr b="0" i="0" sz="1000" u="none" cap="none" strike="noStrike">
              <a:solidFill>
                <a:srgbClr val="000000"/>
              </a:solidFill>
              <a:latin typeface="Arial"/>
              <a:ea typeface="Arial"/>
              <a:cs typeface="Arial"/>
              <a:sym typeface="Arial"/>
            </a:endParaRPr>
          </a:p>
          <a:p>
            <a:pPr indent="0" lvl="0" marL="0" marR="0" rtl="0" algn="l">
              <a:lnSpc>
                <a:spcPct val="147368"/>
              </a:lnSpc>
              <a:spcBef>
                <a:spcPts val="1200"/>
              </a:spcBef>
              <a:spcAft>
                <a:spcPts val="0"/>
              </a:spcAft>
              <a:buClr>
                <a:srgbClr val="000000"/>
              </a:buClr>
              <a:buSzPts val="3800"/>
              <a:buFont typeface="Arial"/>
              <a:buNone/>
            </a:pPr>
            <a:r>
              <a:rPr lang="en-US" sz="3600">
                <a:solidFill>
                  <a:schemeClr val="dk1"/>
                </a:solidFill>
              </a:rPr>
              <a:t>Students and researchers in engineering laboratories often need immediate assistance with lab procedures, troubleshooting, and equipment use. However, teaching assistants and professors are not always available when help is needed. This creates delays, interrupts workflow, and reduces learning efficiency. </a:t>
            </a:r>
            <a:endParaRPr b="0" i="0" sz="1200" u="none" cap="none" strike="noStrike">
              <a:solidFill>
                <a:srgbClr val="000000"/>
              </a:solidFill>
              <a:latin typeface="Arial"/>
              <a:ea typeface="Arial"/>
              <a:cs typeface="Arial"/>
              <a:sym typeface="Arial"/>
            </a:endParaRPr>
          </a:p>
        </p:txBody>
      </p:sp>
      <p:cxnSp>
        <p:nvCxnSpPr>
          <p:cNvPr id="36" name="Google Shape;36;p1"/>
          <p:cNvCxnSpPr/>
          <p:nvPr/>
        </p:nvCxnSpPr>
        <p:spPr>
          <a:xfrm>
            <a:off x="946151" y="13086995"/>
            <a:ext cx="9784200" cy="0"/>
          </a:xfrm>
          <a:prstGeom prst="straightConnector1">
            <a:avLst/>
          </a:prstGeom>
          <a:noFill/>
          <a:ln cap="flat" cmpd="sng" w="25400">
            <a:solidFill>
              <a:schemeClr val="dk1"/>
            </a:solidFill>
            <a:prstDash val="dash"/>
            <a:round/>
            <a:headEnd len="sm" w="sm" type="none"/>
            <a:tailEnd len="sm" w="sm" type="none"/>
          </a:ln>
        </p:spPr>
      </p:cxnSp>
      <p:sp>
        <p:nvSpPr>
          <p:cNvPr id="37" name="Google Shape;37;p1"/>
          <p:cNvSpPr txBox="1"/>
          <p:nvPr/>
        </p:nvSpPr>
        <p:spPr>
          <a:xfrm>
            <a:off x="1107689" y="13272003"/>
            <a:ext cx="9256800" cy="10292400"/>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800" u="sng">
                <a:solidFill>
                  <a:srgbClr val="5D0025"/>
                </a:solidFill>
              </a:rPr>
              <a:t>System Achitecture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200"/>
              </a:spcBef>
              <a:spcAft>
                <a:spcPts val="0"/>
              </a:spcAft>
              <a:buClr>
                <a:srgbClr val="000000"/>
              </a:buClr>
              <a:buSzPts val="2800"/>
              <a:buFont typeface="Arial"/>
              <a:buNone/>
            </a:pPr>
            <a:r>
              <a:rPr b="1" lang="en-US" sz="2800">
                <a:solidFill>
                  <a:schemeClr val="dk2"/>
                </a:solidFill>
              </a:rPr>
              <a:t>Voice &amp; Image Interface</a:t>
            </a:r>
            <a:endParaRPr b="0" i="0" sz="2800" u="none" cap="none" strike="noStrike">
              <a:solidFill>
                <a:schemeClr val="dk1"/>
              </a:solidFill>
              <a:latin typeface="Arial"/>
              <a:ea typeface="Arial"/>
              <a:cs typeface="Arial"/>
              <a:sym typeface="Arial"/>
            </a:endParaRPr>
          </a:p>
          <a:p>
            <a:pPr indent="-457200" lvl="1" marL="914400" marR="0" rtl="0" algn="l">
              <a:lnSpc>
                <a:spcPct val="100000"/>
              </a:lnSpc>
              <a:spcBef>
                <a:spcPts val="800"/>
              </a:spcBef>
              <a:spcAft>
                <a:spcPts val="0"/>
              </a:spcAft>
              <a:buClr>
                <a:schemeClr val="dk2"/>
              </a:buClr>
              <a:buSzPts val="3500"/>
              <a:buFont typeface="Arial"/>
              <a:buChar char="•"/>
            </a:pPr>
            <a:r>
              <a:rPr lang="en-US" sz="2800">
                <a:solidFill>
                  <a:schemeClr val="dk1"/>
                </a:solidFill>
              </a:rPr>
              <a:t>Speech-to-text, text-to-speech, and live object recognition</a:t>
            </a:r>
            <a:endParaRPr sz="2800">
              <a:solidFill>
                <a:schemeClr val="dk1"/>
              </a:solidFill>
            </a:endParaRPr>
          </a:p>
          <a:p>
            <a:pPr indent="0" lvl="0" marL="0" marR="0" rtl="0" algn="l">
              <a:lnSpc>
                <a:spcPct val="100000"/>
              </a:lnSpc>
              <a:spcBef>
                <a:spcPts val="2200"/>
              </a:spcBef>
              <a:spcAft>
                <a:spcPts val="0"/>
              </a:spcAft>
              <a:buClr>
                <a:srgbClr val="000000"/>
              </a:buClr>
              <a:buSzPts val="2800"/>
              <a:buFont typeface="Arial"/>
              <a:buNone/>
            </a:pPr>
            <a:r>
              <a:rPr b="1" lang="en-US" sz="2800">
                <a:solidFill>
                  <a:schemeClr val="dk2"/>
                </a:solidFill>
              </a:rPr>
              <a:t>Artificial Intelligence </a:t>
            </a:r>
            <a:endParaRPr b="0" i="0" sz="2800" u="none" cap="none" strike="noStrike">
              <a:solidFill>
                <a:schemeClr val="dk1"/>
              </a:solidFill>
              <a:latin typeface="Arial"/>
              <a:ea typeface="Arial"/>
              <a:cs typeface="Arial"/>
              <a:sym typeface="Arial"/>
            </a:endParaRPr>
          </a:p>
          <a:p>
            <a:pPr indent="-457200" lvl="1" marL="914400" marR="0" rtl="0" algn="l">
              <a:lnSpc>
                <a:spcPct val="100000"/>
              </a:lnSpc>
              <a:spcBef>
                <a:spcPts val="800"/>
              </a:spcBef>
              <a:spcAft>
                <a:spcPts val="0"/>
              </a:spcAft>
              <a:buClr>
                <a:schemeClr val="dk2"/>
              </a:buClr>
              <a:buSzPts val="3500"/>
              <a:buFont typeface="Arial"/>
              <a:buChar char="•"/>
            </a:pPr>
            <a:r>
              <a:rPr lang="en-US" sz="2800">
                <a:solidFill>
                  <a:schemeClr val="dk1"/>
                </a:solidFill>
              </a:rPr>
              <a:t>Local LLM with Retrieval-Augmented Generation (RAG) </a:t>
            </a:r>
            <a:endParaRPr sz="2800">
              <a:solidFill>
                <a:schemeClr val="dk1"/>
              </a:solidFill>
            </a:endParaRPr>
          </a:p>
          <a:p>
            <a:pPr indent="0" lvl="0" marL="0" rtl="0" algn="l">
              <a:lnSpc>
                <a:spcPct val="100000"/>
              </a:lnSpc>
              <a:spcBef>
                <a:spcPts val="2200"/>
              </a:spcBef>
              <a:spcAft>
                <a:spcPts val="0"/>
              </a:spcAft>
              <a:buNone/>
            </a:pPr>
            <a:r>
              <a:rPr b="1" lang="en-US" sz="2800">
                <a:solidFill>
                  <a:schemeClr val="dk2"/>
                </a:solidFill>
              </a:rPr>
              <a:t>Website / User Interface </a:t>
            </a:r>
            <a:endParaRPr sz="2800">
              <a:solidFill>
                <a:schemeClr val="dk1"/>
              </a:solidFill>
            </a:endParaRPr>
          </a:p>
          <a:p>
            <a:pPr indent="-450850" lvl="1" marL="914400" rtl="0" algn="l">
              <a:lnSpc>
                <a:spcPct val="100000"/>
              </a:lnSpc>
              <a:spcBef>
                <a:spcPts val="800"/>
              </a:spcBef>
              <a:spcAft>
                <a:spcPts val="0"/>
              </a:spcAft>
              <a:buClr>
                <a:schemeClr val="dk2"/>
              </a:buClr>
              <a:buSzPts val="3500"/>
              <a:buChar char="•"/>
            </a:pPr>
            <a:r>
              <a:rPr lang="en-US" sz="2800">
                <a:solidFill>
                  <a:schemeClr val="dk1"/>
                </a:solidFill>
              </a:rPr>
              <a:t>Dashboard, camera feed, chatbot, and robot controls </a:t>
            </a:r>
            <a:endParaRPr sz="2800">
              <a:solidFill>
                <a:schemeClr val="dk1"/>
              </a:solidFill>
            </a:endParaRPr>
          </a:p>
          <a:p>
            <a:pPr indent="0" lvl="0" marL="0" rtl="0" algn="l">
              <a:lnSpc>
                <a:spcPct val="100000"/>
              </a:lnSpc>
              <a:spcBef>
                <a:spcPts val="2200"/>
              </a:spcBef>
              <a:spcAft>
                <a:spcPts val="0"/>
              </a:spcAft>
              <a:buNone/>
            </a:pPr>
            <a:r>
              <a:rPr b="1" lang="en-US" sz="2800">
                <a:solidFill>
                  <a:schemeClr val="dk2"/>
                </a:solidFill>
              </a:rPr>
              <a:t>Robotics / Embedded Control </a:t>
            </a:r>
            <a:endParaRPr sz="2800">
              <a:solidFill>
                <a:schemeClr val="dk1"/>
              </a:solidFill>
            </a:endParaRPr>
          </a:p>
          <a:p>
            <a:pPr indent="-450850" lvl="1" marL="914400" rtl="0" algn="l">
              <a:lnSpc>
                <a:spcPct val="100000"/>
              </a:lnSpc>
              <a:spcBef>
                <a:spcPts val="800"/>
              </a:spcBef>
              <a:spcAft>
                <a:spcPts val="0"/>
              </a:spcAft>
              <a:buClr>
                <a:schemeClr val="dk2"/>
              </a:buClr>
              <a:buSzPts val="3500"/>
              <a:buChar char="•"/>
            </a:pPr>
            <a:r>
              <a:rPr lang="en-US" sz="2800">
                <a:solidFill>
                  <a:schemeClr val="dk1"/>
                </a:solidFill>
              </a:rPr>
              <a:t>Jetson-to-ESP32 communication for movement and actuation </a:t>
            </a:r>
            <a:endParaRPr sz="2800">
              <a:solidFill>
                <a:schemeClr val="dk1"/>
              </a:solidFill>
            </a:endParaRPr>
          </a:p>
          <a:p>
            <a:pPr indent="0" lvl="0" marL="0" rtl="0" algn="l">
              <a:lnSpc>
                <a:spcPct val="100000"/>
              </a:lnSpc>
              <a:spcBef>
                <a:spcPts val="2200"/>
              </a:spcBef>
              <a:spcAft>
                <a:spcPts val="0"/>
              </a:spcAft>
              <a:buNone/>
            </a:pPr>
            <a:r>
              <a:rPr b="1" lang="en-US" sz="2800">
                <a:solidFill>
                  <a:schemeClr val="dk2"/>
                </a:solidFill>
              </a:rPr>
              <a:t>Power Subsystem </a:t>
            </a:r>
            <a:endParaRPr sz="2800">
              <a:solidFill>
                <a:schemeClr val="dk1"/>
              </a:solidFill>
            </a:endParaRPr>
          </a:p>
          <a:p>
            <a:pPr indent="-450850" lvl="1" marL="914400" rtl="0" algn="l">
              <a:lnSpc>
                <a:spcPct val="100000"/>
              </a:lnSpc>
              <a:spcBef>
                <a:spcPts val="800"/>
              </a:spcBef>
              <a:spcAft>
                <a:spcPts val="0"/>
              </a:spcAft>
              <a:buClr>
                <a:schemeClr val="dk2"/>
              </a:buClr>
              <a:buSzPts val="3500"/>
              <a:buChar char="•"/>
            </a:pPr>
            <a:r>
              <a:rPr lang="en-US" sz="2800">
                <a:solidFill>
                  <a:schemeClr val="dk1"/>
                </a:solidFill>
              </a:rPr>
              <a:t>Battery, charging, regulation, and protected power distribution </a:t>
            </a:r>
            <a:endParaRPr sz="2800">
              <a:solidFill>
                <a:schemeClr val="dk1"/>
              </a:solidFill>
            </a:endParaRPr>
          </a:p>
          <a:p>
            <a:pPr indent="0" lvl="0" marL="0" marR="0" rtl="0" algn="l">
              <a:lnSpc>
                <a:spcPct val="164285"/>
              </a:lnSpc>
              <a:spcBef>
                <a:spcPts val="800"/>
              </a:spcBef>
              <a:spcAft>
                <a:spcPts val="0"/>
              </a:spcAft>
              <a:buNone/>
            </a:pPr>
            <a:r>
              <a:t/>
            </a:r>
            <a:endParaRPr sz="2800">
              <a:solidFill>
                <a:schemeClr val="dk1"/>
              </a:solidFill>
            </a:endParaRPr>
          </a:p>
        </p:txBody>
      </p:sp>
      <p:sp>
        <p:nvSpPr>
          <p:cNvPr id="38" name="Google Shape;38;p1"/>
          <p:cNvSpPr txBox="1"/>
          <p:nvPr/>
        </p:nvSpPr>
        <p:spPr>
          <a:xfrm>
            <a:off x="11667346" y="6209076"/>
            <a:ext cx="9499800" cy="6803400"/>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Engineering Analysis</a:t>
            </a:r>
            <a:endParaRPr b="0" i="0" sz="1400" u="none" cap="none" strike="noStrike">
              <a:solidFill>
                <a:srgbClr val="000000"/>
              </a:solidFill>
              <a:latin typeface="Arial"/>
              <a:ea typeface="Arial"/>
              <a:cs typeface="Arial"/>
              <a:sym typeface="Arial"/>
            </a:endParaRPr>
          </a:p>
          <a:p>
            <a:pPr indent="0" lvl="0" marL="0" marR="0" rtl="0" algn="l">
              <a:lnSpc>
                <a:spcPct val="164285"/>
              </a:lnSpc>
              <a:spcBef>
                <a:spcPts val="12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Mauris orci mi, varius id diam id, egestas auctor enim. Praesent ut massa nibh. Duis purus neque, facilisis cursus ultrices vel, ullamcorper ac augue </a:t>
            </a:r>
            <a:r>
              <a:rPr b="0" i="0" lang="en-US" sz="2800" u="none" cap="none" strike="noStrike">
                <a:solidFill>
                  <a:schemeClr val="dk2"/>
                </a:solidFill>
                <a:latin typeface="Arial"/>
                <a:ea typeface="Arial"/>
                <a:cs typeface="Arial"/>
                <a:sym typeface="Arial"/>
              </a:rPr>
              <a:t>[See Figure A]</a:t>
            </a:r>
            <a:r>
              <a:rPr b="0" i="0" lang="en-US" sz="2800" u="none" cap="none" strike="noStrike">
                <a:solidFill>
                  <a:schemeClr val="dk1"/>
                </a:solidFill>
                <a:latin typeface="Arial"/>
                <a:ea typeface="Arial"/>
                <a:cs typeface="Arial"/>
                <a:sym typeface="Arial"/>
              </a:rPr>
              <a:t>. Done:</a:t>
            </a:r>
            <a:endParaRPr b="0" i="0" sz="1400" u="none" cap="none" strike="noStrike">
              <a:solidFill>
                <a:srgbClr val="000000"/>
              </a:solidFill>
              <a:latin typeface="Arial"/>
              <a:ea typeface="Arial"/>
              <a:cs typeface="Arial"/>
              <a:sym typeface="Arial"/>
            </a:endParaRPr>
          </a:p>
          <a:p>
            <a:pPr indent="-514350" lvl="1" marL="971550" marR="0" rtl="0" algn="l">
              <a:lnSpc>
                <a:spcPct val="164285"/>
              </a:lnSpc>
              <a:spcBef>
                <a:spcPts val="1200"/>
              </a:spcBef>
              <a:spcAft>
                <a:spcPts val="0"/>
              </a:spcAft>
              <a:buClr>
                <a:schemeClr val="dk2"/>
              </a:buClr>
              <a:buSzPts val="2800"/>
              <a:buFont typeface="Arial"/>
              <a:buAutoNum type="alphaUcPeriod"/>
            </a:pPr>
            <a:r>
              <a:rPr b="0" i="0" lang="en-US" sz="2800" u="none" cap="none" strike="noStrike">
                <a:solidFill>
                  <a:schemeClr val="dk1"/>
                </a:solidFill>
                <a:latin typeface="Arial"/>
                <a:ea typeface="Arial"/>
                <a:cs typeface="Arial"/>
                <a:sym typeface="Arial"/>
              </a:rPr>
              <a:t>Sed in risus nibh. In nisl quam, aliquet sed nibh sitamet, faucibus placerat dui.</a:t>
            </a:r>
            <a:endParaRPr b="0" i="0" sz="1400" u="none" cap="none" strike="noStrike">
              <a:solidFill>
                <a:srgbClr val="000000"/>
              </a:solidFill>
              <a:latin typeface="Arial"/>
              <a:ea typeface="Arial"/>
              <a:cs typeface="Arial"/>
              <a:sym typeface="Arial"/>
            </a:endParaRPr>
          </a:p>
          <a:p>
            <a:pPr indent="-514350" lvl="1" marL="971550" marR="0" rtl="0" algn="l">
              <a:lnSpc>
                <a:spcPct val="164285"/>
              </a:lnSpc>
              <a:spcBef>
                <a:spcPts val="1200"/>
              </a:spcBef>
              <a:spcAft>
                <a:spcPts val="0"/>
              </a:spcAft>
              <a:buClr>
                <a:schemeClr val="dk2"/>
              </a:buClr>
              <a:buSzPts val="2800"/>
              <a:buFont typeface="Arial"/>
              <a:buAutoNum type="alphaUcPeriod"/>
            </a:pPr>
            <a:r>
              <a:rPr b="0" i="0" lang="en-US" sz="2800" u="none" cap="none" strike="noStrike">
                <a:solidFill>
                  <a:schemeClr val="dk1"/>
                </a:solidFill>
                <a:latin typeface="Arial"/>
                <a:ea typeface="Arial"/>
                <a:cs typeface="Arial"/>
                <a:sym typeface="Arial"/>
              </a:rPr>
              <a:t>Fusce quis augue scelerisque, luctus rum sed, ut dolor. pulvinar urna in eros posuere. </a:t>
            </a:r>
            <a:endParaRPr b="0" i="0" sz="1400" u="none" cap="none" strike="noStrike">
              <a:solidFill>
                <a:srgbClr val="000000"/>
              </a:solidFill>
              <a:latin typeface="Arial"/>
              <a:ea typeface="Arial"/>
              <a:cs typeface="Arial"/>
              <a:sym typeface="Arial"/>
            </a:endParaRPr>
          </a:p>
          <a:p>
            <a:pPr indent="-514350" lvl="1" marL="971550" marR="0" rtl="0" algn="l">
              <a:lnSpc>
                <a:spcPct val="164285"/>
              </a:lnSpc>
              <a:spcBef>
                <a:spcPts val="1200"/>
              </a:spcBef>
              <a:spcAft>
                <a:spcPts val="0"/>
              </a:spcAft>
              <a:buClr>
                <a:schemeClr val="dk2"/>
              </a:buClr>
              <a:buSzPts val="2800"/>
              <a:buFont typeface="Arial"/>
              <a:buAutoNum type="alphaUcPeriod"/>
            </a:pPr>
            <a:r>
              <a:rPr b="0" i="0" lang="en-US" sz="2800" u="none" cap="none" strike="noStrike">
                <a:solidFill>
                  <a:schemeClr val="dk1"/>
                </a:solidFill>
                <a:latin typeface="Arial"/>
                <a:ea typeface="Arial"/>
                <a:cs typeface="Arial"/>
                <a:sym typeface="Arial"/>
              </a:rPr>
              <a:t>in elementum orci dignissim. Proin semper</a:t>
            </a:r>
            <a:endParaRPr b="0" i="0" sz="1400" u="none" cap="none" strike="noStrike">
              <a:solidFill>
                <a:srgbClr val="000000"/>
              </a:solidFill>
              <a:latin typeface="Arial"/>
              <a:ea typeface="Arial"/>
              <a:cs typeface="Arial"/>
              <a:sym typeface="Arial"/>
            </a:endParaRPr>
          </a:p>
        </p:txBody>
      </p:sp>
      <p:graphicFrame>
        <p:nvGraphicFramePr>
          <p:cNvPr descr="Chart" id="39" name="Google Shape;39;p1"/>
          <p:cNvGraphicFramePr/>
          <p:nvPr/>
        </p:nvGraphicFramePr>
        <p:xfrm>
          <a:off x="11371356" y="13889326"/>
          <a:ext cx="6554233" cy="4513863"/>
        </p:xfrm>
        <a:graphic>
          <a:graphicData uri="http://schemas.openxmlformats.org/drawingml/2006/chart">
            <c:chart r:id="rId3"/>
          </a:graphicData>
        </a:graphic>
      </p:graphicFrame>
      <p:pic>
        <p:nvPicPr>
          <p:cNvPr descr="Chart Label" id="40" name="Google Shape;40;p1"/>
          <p:cNvPicPr preferRelativeResize="0"/>
          <p:nvPr/>
        </p:nvPicPr>
        <p:blipFill rotWithShape="1">
          <a:blip r:embed="rId4">
            <a:alphaModFix/>
          </a:blip>
          <a:srcRect b="0" l="0" r="0" t="0"/>
          <a:stretch/>
        </p:blipFill>
        <p:spPr>
          <a:xfrm>
            <a:off x="11766382" y="14122621"/>
            <a:ext cx="707508" cy="604330"/>
          </a:xfrm>
          <a:prstGeom prst="rect">
            <a:avLst/>
          </a:prstGeom>
          <a:noFill/>
          <a:ln>
            <a:noFill/>
          </a:ln>
        </p:spPr>
      </p:pic>
      <p:sp>
        <p:nvSpPr>
          <p:cNvPr descr="Chart Description" id="41" name="Google Shape;41;p1"/>
          <p:cNvSpPr/>
          <p:nvPr/>
        </p:nvSpPr>
        <p:spPr>
          <a:xfrm>
            <a:off x="17486640" y="15519766"/>
            <a:ext cx="2962276" cy="138310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lt1"/>
              </a:solidFill>
              <a:latin typeface="Arial"/>
              <a:ea typeface="Arial"/>
              <a:cs typeface="Arial"/>
              <a:sym typeface="Arial"/>
            </a:endParaRPr>
          </a:p>
        </p:txBody>
      </p:sp>
      <p:sp>
        <p:nvSpPr>
          <p:cNvPr descr="Chart Description Border" id="42" name="Google Shape;42;p1"/>
          <p:cNvSpPr/>
          <p:nvPr/>
        </p:nvSpPr>
        <p:spPr>
          <a:xfrm>
            <a:off x="17658090" y="15705536"/>
            <a:ext cx="249237" cy="980380"/>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lt1"/>
              </a:solidFill>
              <a:latin typeface="Arial"/>
              <a:ea typeface="Arial"/>
              <a:cs typeface="Arial"/>
              <a:sym typeface="Arial"/>
            </a:endParaRPr>
          </a:p>
        </p:txBody>
      </p:sp>
      <p:sp>
        <p:nvSpPr>
          <p:cNvPr descr="Arrow from Chart to Chart Description" id="43" name="Google Shape;43;p1"/>
          <p:cNvSpPr/>
          <p:nvPr/>
        </p:nvSpPr>
        <p:spPr>
          <a:xfrm rot="-5400000">
            <a:off x="16029025" y="14746003"/>
            <a:ext cx="1842789" cy="2136775"/>
          </a:xfrm>
          <a:prstGeom prst="arc">
            <a:avLst>
              <a:gd fmla="val 16200000" name="adj1"/>
              <a:gd fmla="val 3291054" name="adj2"/>
            </a:avLst>
          </a:prstGeom>
          <a:noFill/>
          <a:ln cap="flat" cmpd="sng" w="38100">
            <a:solidFill>
              <a:schemeClr val="accent3"/>
            </a:solidFill>
            <a:prstDash val="solid"/>
            <a:miter lim="800000"/>
            <a:headEnd len="med" w="med" type="stealth"/>
            <a:tailEnd len="med" w="med" type="ova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dk1"/>
              </a:solidFill>
              <a:latin typeface="Arial"/>
              <a:ea typeface="Arial"/>
              <a:cs typeface="Arial"/>
              <a:sym typeface="Arial"/>
            </a:endParaRPr>
          </a:p>
        </p:txBody>
      </p:sp>
      <p:sp>
        <p:nvSpPr>
          <p:cNvPr id="44" name="Google Shape;44;p1"/>
          <p:cNvSpPr txBox="1"/>
          <p:nvPr/>
        </p:nvSpPr>
        <p:spPr>
          <a:xfrm>
            <a:off x="17913678" y="15782826"/>
            <a:ext cx="2619375" cy="565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38"/>
              <a:buFont typeface="Arial"/>
              <a:buNone/>
            </a:pPr>
            <a:r>
              <a:rPr b="0" i="0" lang="en-US" sz="1538" u="none" cap="none" strike="noStrike">
                <a:solidFill>
                  <a:schemeClr val="lt1"/>
                </a:solidFill>
                <a:latin typeface="Arial"/>
                <a:ea typeface="Arial"/>
                <a:cs typeface="Arial"/>
                <a:sym typeface="Arial"/>
              </a:rPr>
              <a:t>neque dignissim, and in aliquet nisl et umis.</a:t>
            </a:r>
            <a:endParaRPr b="0" i="0" sz="1400" u="none" cap="none" strike="noStrike">
              <a:solidFill>
                <a:srgbClr val="000000"/>
              </a:solidFill>
              <a:latin typeface="Arial"/>
              <a:ea typeface="Arial"/>
              <a:cs typeface="Arial"/>
              <a:sym typeface="Arial"/>
            </a:endParaRPr>
          </a:p>
        </p:txBody>
      </p:sp>
      <p:sp>
        <p:nvSpPr>
          <p:cNvPr descr="Chart Description Border" id="45" name="Google Shape;45;p1"/>
          <p:cNvSpPr/>
          <p:nvPr/>
        </p:nvSpPr>
        <p:spPr>
          <a:xfrm rot="10800000">
            <a:off x="19982190" y="15720452"/>
            <a:ext cx="249237" cy="980381"/>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lt1"/>
              </a:solidFill>
              <a:latin typeface="Arial"/>
              <a:ea typeface="Arial"/>
              <a:cs typeface="Arial"/>
              <a:sym typeface="Arial"/>
            </a:endParaRPr>
          </a:p>
        </p:txBody>
      </p:sp>
      <p:sp>
        <p:nvSpPr>
          <p:cNvPr id="46" name="Google Shape;46;p1"/>
          <p:cNvSpPr txBox="1"/>
          <p:nvPr/>
        </p:nvSpPr>
        <p:spPr>
          <a:xfrm>
            <a:off x="11683070" y="18405610"/>
            <a:ext cx="9829801" cy="52322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Figure 2. Caption in, 28 points, italicized.  </a:t>
            </a:r>
            <a:endParaRPr b="0" i="0" sz="1400" u="none" cap="none" strike="noStrike">
              <a:solidFill>
                <a:srgbClr val="000000"/>
              </a:solidFill>
              <a:latin typeface="Arial"/>
              <a:ea typeface="Arial"/>
              <a:cs typeface="Arial"/>
              <a:sym typeface="Arial"/>
            </a:endParaRPr>
          </a:p>
        </p:txBody>
      </p:sp>
      <p:cxnSp>
        <p:nvCxnSpPr>
          <p:cNvPr id="47" name="Google Shape;47;p1"/>
          <p:cNvCxnSpPr/>
          <p:nvPr/>
        </p:nvCxnSpPr>
        <p:spPr>
          <a:xfrm>
            <a:off x="11658601" y="19044450"/>
            <a:ext cx="9784080" cy="0"/>
          </a:xfrm>
          <a:prstGeom prst="straightConnector1">
            <a:avLst/>
          </a:prstGeom>
          <a:noFill/>
          <a:ln cap="flat" cmpd="sng" w="25400">
            <a:solidFill>
              <a:schemeClr val="dk1"/>
            </a:solidFill>
            <a:prstDash val="dash"/>
            <a:round/>
            <a:headEnd len="sm" w="sm" type="none"/>
            <a:tailEnd len="sm" w="sm" type="none"/>
          </a:ln>
        </p:spPr>
      </p:cxnSp>
      <p:graphicFrame>
        <p:nvGraphicFramePr>
          <p:cNvPr descr="Chart" id="48" name="Google Shape;48;p1"/>
          <p:cNvGraphicFramePr/>
          <p:nvPr/>
        </p:nvGraphicFramePr>
        <p:xfrm>
          <a:off x="11359277" y="19552848"/>
          <a:ext cx="5134664" cy="4222651"/>
        </p:xfrm>
        <a:graphic>
          <a:graphicData uri="http://schemas.openxmlformats.org/drawingml/2006/chart">
            <c:chart r:id="rId5"/>
          </a:graphicData>
        </a:graphic>
      </p:graphicFrame>
      <p:pic>
        <p:nvPicPr>
          <p:cNvPr descr="Chart Label" id="49" name="Google Shape;49;p1"/>
          <p:cNvPicPr preferRelativeResize="0"/>
          <p:nvPr/>
        </p:nvPicPr>
        <p:blipFill rotWithShape="1">
          <a:blip r:embed="rId6">
            <a:alphaModFix/>
          </a:blip>
          <a:srcRect b="0" l="0" r="0" t="0"/>
          <a:stretch/>
        </p:blipFill>
        <p:spPr>
          <a:xfrm>
            <a:off x="11721777" y="19894574"/>
            <a:ext cx="707508" cy="604330"/>
          </a:xfrm>
          <a:prstGeom prst="rect">
            <a:avLst/>
          </a:prstGeom>
          <a:noFill/>
          <a:ln>
            <a:noFill/>
          </a:ln>
        </p:spPr>
      </p:pic>
      <p:sp>
        <p:nvSpPr>
          <p:cNvPr id="50" name="Google Shape;50;p1"/>
          <p:cNvSpPr txBox="1"/>
          <p:nvPr/>
        </p:nvSpPr>
        <p:spPr>
          <a:xfrm>
            <a:off x="11683070" y="23794528"/>
            <a:ext cx="9829801" cy="52322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Figure 3. Caption in, 28 points, italicized.  </a:t>
            </a:r>
            <a:endParaRPr b="0" i="0" sz="1400" u="none" cap="none" strike="noStrike">
              <a:solidFill>
                <a:srgbClr val="000000"/>
              </a:solidFill>
              <a:latin typeface="Arial"/>
              <a:ea typeface="Arial"/>
              <a:cs typeface="Arial"/>
              <a:sym typeface="Arial"/>
            </a:endParaRPr>
          </a:p>
        </p:txBody>
      </p:sp>
      <p:cxnSp>
        <p:nvCxnSpPr>
          <p:cNvPr id="51" name="Google Shape;51;p1"/>
          <p:cNvCxnSpPr/>
          <p:nvPr/>
        </p:nvCxnSpPr>
        <p:spPr>
          <a:xfrm>
            <a:off x="11658599" y="24355019"/>
            <a:ext cx="9829801" cy="0"/>
          </a:xfrm>
          <a:prstGeom prst="straightConnector1">
            <a:avLst/>
          </a:prstGeom>
          <a:noFill/>
          <a:ln cap="flat" cmpd="sng" w="25400">
            <a:solidFill>
              <a:schemeClr val="dk1"/>
            </a:solidFill>
            <a:prstDash val="dash"/>
            <a:round/>
            <a:headEnd len="sm" w="sm" type="none"/>
            <a:tailEnd len="sm" w="sm" type="none"/>
          </a:ln>
        </p:spPr>
      </p:cxnSp>
      <p:sp>
        <p:nvSpPr>
          <p:cNvPr id="52" name="Google Shape;52;p1"/>
          <p:cNvSpPr txBox="1"/>
          <p:nvPr/>
        </p:nvSpPr>
        <p:spPr>
          <a:xfrm>
            <a:off x="11668740" y="25137302"/>
            <a:ext cx="9829801" cy="52322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Table 1. Caption in, 28 points, italicized.  </a:t>
            </a:r>
            <a:endParaRPr b="0" i="0" sz="1400" u="none" cap="none" strike="noStrike">
              <a:solidFill>
                <a:srgbClr val="000000"/>
              </a:solidFill>
              <a:latin typeface="Arial"/>
              <a:ea typeface="Arial"/>
              <a:cs typeface="Arial"/>
              <a:sym typeface="Arial"/>
            </a:endParaRPr>
          </a:p>
        </p:txBody>
      </p:sp>
      <p:graphicFrame>
        <p:nvGraphicFramePr>
          <p:cNvPr id="53" name="Google Shape;53;p1"/>
          <p:cNvGraphicFramePr/>
          <p:nvPr/>
        </p:nvGraphicFramePr>
        <p:xfrm>
          <a:off x="11769612" y="25784238"/>
          <a:ext cx="3000000" cy="3000000"/>
        </p:xfrm>
        <a:graphic>
          <a:graphicData uri="http://schemas.openxmlformats.org/drawingml/2006/table">
            <a:tbl>
              <a:tblPr bandRow="1" firstRow="1">
                <a:noFill/>
                <a:tableStyleId>{42FE4606-C18B-4FD9-BE71-F87F825A702C}</a:tableStyleId>
              </a:tblPr>
              <a:tblGrid>
                <a:gridCol w="2240700"/>
                <a:gridCol w="2505325"/>
                <a:gridCol w="2223050"/>
                <a:gridCol w="2628850"/>
              </a:tblGrid>
              <a:tr h="654050">
                <a:tc gridSpan="4">
                  <a:txBody>
                    <a:bodyPr/>
                    <a:lstStyle/>
                    <a:p>
                      <a:pPr indent="0" lvl="0" marL="0" marR="0" rtl="0" algn="ctr">
                        <a:lnSpc>
                          <a:spcPct val="100000"/>
                        </a:lnSpc>
                        <a:spcBef>
                          <a:spcPts val="0"/>
                        </a:spcBef>
                        <a:spcAft>
                          <a:spcPts val="0"/>
                        </a:spcAft>
                        <a:buClr>
                          <a:srgbClr val="000000"/>
                        </a:buClr>
                        <a:buSzPts val="2700"/>
                        <a:buFont typeface="Arial"/>
                        <a:buNone/>
                      </a:pPr>
                      <a:r>
                        <a:rPr lang="en-US" sz="2700" u="none" cap="none" strike="noStrike"/>
                        <a:t>Chart Title</a:t>
                      </a:r>
                      <a:endParaRPr b="1" sz="2700" u="none" cap="none" strike="noStrike">
                        <a:solidFill>
                          <a:schemeClr val="dk1"/>
                        </a:solidFill>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76200">
                      <a:solidFill>
                        <a:schemeClr val="lt1"/>
                      </a:solidFill>
                      <a:prstDash val="solid"/>
                      <a:round/>
                      <a:headEnd len="sm" w="sm" type="none"/>
                      <a:tailEnd len="sm" w="sm" type="none"/>
                    </a:lnB>
                  </a:tcPr>
                </a:tc>
                <a:tc hMerge="1"/>
                <a:tc hMerge="1"/>
                <a:tc hMerge="1"/>
              </a:tr>
              <a:tr h="5137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t>8.01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t>7.99</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5.77</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6.44</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400">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4.50</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3.11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9.55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1.12</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7075">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6.15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8.00</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6.18</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5.65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8.21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2.16</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3.11*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7.17</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3.00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9.70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10.50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4.45</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4" name="Google Shape;54;p1"/>
          <p:cNvSpPr txBox="1"/>
          <p:nvPr/>
        </p:nvSpPr>
        <p:spPr>
          <a:xfrm>
            <a:off x="11668740" y="29007094"/>
            <a:ext cx="9829801" cy="407804"/>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50"/>
              <a:buFont typeface="Arial"/>
              <a:buNone/>
            </a:pPr>
            <a:r>
              <a:rPr b="0" i="1" lang="en-US" sz="2050" u="none" cap="none" strike="noStrike">
                <a:solidFill>
                  <a:schemeClr val="dk1"/>
                </a:solidFill>
                <a:latin typeface="Arial"/>
                <a:ea typeface="Arial"/>
                <a:cs typeface="Arial"/>
                <a:sym typeface="Arial"/>
              </a:rPr>
              <a:t>*Unamcorper efficitur sed in nulla. </a:t>
            </a:r>
            <a:endParaRPr b="0" i="0" sz="1400" u="none" cap="none" strike="noStrike">
              <a:solidFill>
                <a:srgbClr val="000000"/>
              </a:solidFill>
              <a:latin typeface="Arial"/>
              <a:ea typeface="Arial"/>
              <a:cs typeface="Arial"/>
              <a:sym typeface="Arial"/>
            </a:endParaRPr>
          </a:p>
        </p:txBody>
      </p:sp>
      <p:cxnSp>
        <p:nvCxnSpPr>
          <p:cNvPr id="55" name="Google Shape;55;p1"/>
          <p:cNvCxnSpPr/>
          <p:nvPr/>
        </p:nvCxnSpPr>
        <p:spPr>
          <a:xfrm>
            <a:off x="16597970" y="19887278"/>
            <a:ext cx="0" cy="3814924"/>
          </a:xfrm>
          <a:prstGeom prst="straightConnector1">
            <a:avLst/>
          </a:prstGeom>
          <a:noFill/>
          <a:ln cap="flat" cmpd="sng" w="25400">
            <a:solidFill>
              <a:schemeClr val="dk1"/>
            </a:solidFill>
            <a:prstDash val="dash"/>
            <a:round/>
            <a:headEnd len="sm" w="sm" type="none"/>
            <a:tailEnd len="sm" w="sm" type="none"/>
          </a:ln>
        </p:spPr>
      </p:cxnSp>
      <p:graphicFrame>
        <p:nvGraphicFramePr>
          <p:cNvPr descr="Chart" id="56" name="Google Shape;56;p1"/>
          <p:cNvGraphicFramePr/>
          <p:nvPr/>
        </p:nvGraphicFramePr>
        <p:xfrm>
          <a:off x="16717456" y="19552848"/>
          <a:ext cx="5134664" cy="4222651"/>
        </p:xfrm>
        <a:graphic>
          <a:graphicData uri="http://schemas.openxmlformats.org/drawingml/2006/chart">
            <c:chart r:id="rId7"/>
          </a:graphicData>
        </a:graphic>
      </p:graphicFrame>
      <p:pic>
        <p:nvPicPr>
          <p:cNvPr descr="Chart Label" id="57" name="Google Shape;57;p1"/>
          <p:cNvPicPr preferRelativeResize="0"/>
          <p:nvPr/>
        </p:nvPicPr>
        <p:blipFill rotWithShape="1">
          <a:blip r:embed="rId8">
            <a:alphaModFix/>
          </a:blip>
          <a:srcRect b="0" l="0" r="0" t="0"/>
          <a:stretch/>
        </p:blipFill>
        <p:spPr>
          <a:xfrm>
            <a:off x="16936346" y="19924339"/>
            <a:ext cx="707508" cy="604330"/>
          </a:xfrm>
          <a:prstGeom prst="rect">
            <a:avLst/>
          </a:prstGeom>
          <a:noFill/>
          <a:ln>
            <a:noFill/>
          </a:ln>
        </p:spPr>
      </p:pic>
      <p:graphicFrame>
        <p:nvGraphicFramePr>
          <p:cNvPr descr="Chart" id="58" name="Google Shape;58;p1"/>
          <p:cNvGraphicFramePr/>
          <p:nvPr/>
        </p:nvGraphicFramePr>
        <p:xfrm>
          <a:off x="22411792" y="7037620"/>
          <a:ext cx="9757247" cy="6525980"/>
        </p:xfrm>
        <a:graphic>
          <a:graphicData uri="http://schemas.openxmlformats.org/drawingml/2006/chart">
            <c:chart r:id="rId9"/>
          </a:graphicData>
        </a:graphic>
      </p:graphicFrame>
      <p:cxnSp>
        <p:nvCxnSpPr>
          <p:cNvPr id="59" name="Google Shape;59;p1"/>
          <p:cNvCxnSpPr/>
          <p:nvPr/>
        </p:nvCxnSpPr>
        <p:spPr>
          <a:xfrm>
            <a:off x="22442212" y="13808417"/>
            <a:ext cx="9673301" cy="0"/>
          </a:xfrm>
          <a:prstGeom prst="straightConnector1">
            <a:avLst/>
          </a:prstGeom>
          <a:noFill/>
          <a:ln cap="flat" cmpd="sng" w="25400">
            <a:solidFill>
              <a:schemeClr val="dk1"/>
            </a:solidFill>
            <a:prstDash val="dash"/>
            <a:round/>
            <a:headEnd len="sm" w="sm" type="none"/>
            <a:tailEnd len="sm" w="sm" type="none"/>
          </a:ln>
        </p:spPr>
      </p:cxnSp>
      <p:sp>
        <p:nvSpPr>
          <p:cNvPr id="60" name="Google Shape;60;p1"/>
          <p:cNvSpPr txBox="1"/>
          <p:nvPr/>
        </p:nvSpPr>
        <p:spPr>
          <a:xfrm>
            <a:off x="22427675" y="14478900"/>
            <a:ext cx="9421181" cy="5196294"/>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Outcomes</a:t>
            </a:r>
            <a:endParaRPr b="0" i="0" sz="1400" u="none" cap="none" strike="noStrike">
              <a:solidFill>
                <a:srgbClr val="000000"/>
              </a:solidFill>
              <a:latin typeface="Arial"/>
              <a:ea typeface="Arial"/>
              <a:cs typeface="Arial"/>
              <a:sym typeface="Arial"/>
            </a:endParaRPr>
          </a:p>
          <a:p>
            <a:pPr indent="0" lvl="0" marL="0" marR="0" rtl="0" algn="l">
              <a:lnSpc>
                <a:spcPct val="164285"/>
              </a:lnSpc>
              <a:spcBef>
                <a:spcPts val="12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Mauris orci mi, varius id diam id, egestas auctor enim. Praesent ut massa nibh. Duis purus neque, facilisis cursus ultrices vel, ullamcorper ac augue. Donec semper lorem vitae urna pulvinar,.</a:t>
            </a:r>
            <a:endParaRPr b="0" i="0" sz="1400" u="none" cap="none" strike="noStrike">
              <a:solidFill>
                <a:srgbClr val="000000"/>
              </a:solidFill>
              <a:latin typeface="Arial"/>
              <a:ea typeface="Arial"/>
              <a:cs typeface="Arial"/>
              <a:sym typeface="Arial"/>
            </a:endParaRPr>
          </a:p>
          <a:p>
            <a:pPr indent="0" lvl="0" marL="0" marR="0" rtl="0" algn="l">
              <a:lnSpc>
                <a:spcPct val="164285"/>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Sed in risus nibh. In nisl quam, aliquet sed nibh sit amet, faucibus placerat dui. Fusce quis augue scelerisque, luctus rum sed, porta ut dolor. In</a:t>
            </a:r>
            <a:endParaRPr b="0" i="0" sz="1400" u="none" cap="none" strike="noStrike">
              <a:solidFill>
                <a:srgbClr val="000000"/>
              </a:solidFill>
              <a:latin typeface="Arial"/>
              <a:ea typeface="Arial"/>
              <a:cs typeface="Arial"/>
              <a:sym typeface="Arial"/>
            </a:endParaRPr>
          </a:p>
        </p:txBody>
      </p:sp>
      <p:grpSp>
        <p:nvGrpSpPr>
          <p:cNvPr descr="Chart" id="61" name="Google Shape;61;p1"/>
          <p:cNvGrpSpPr/>
          <p:nvPr/>
        </p:nvGrpSpPr>
        <p:grpSpPr>
          <a:xfrm>
            <a:off x="22762200" y="19839002"/>
            <a:ext cx="6976171" cy="4531864"/>
            <a:chOff x="0" y="0"/>
            <a:chExt cx="6976171" cy="4531864"/>
          </a:xfrm>
        </p:grpSpPr>
        <p:sp>
          <p:nvSpPr>
            <p:cNvPr id="62" name="Google Shape;62;p1"/>
            <p:cNvSpPr/>
            <p:nvPr/>
          </p:nvSpPr>
          <p:spPr>
            <a:xfrm>
              <a:off x="2166105" y="0"/>
              <a:ext cx="2643961" cy="1717571"/>
            </a:xfrm>
            <a:prstGeom prst="trapezoid">
              <a:avLst>
                <a:gd fmla="val 76968"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txBox="1"/>
            <p:nvPr/>
          </p:nvSpPr>
          <p:spPr>
            <a:xfrm>
              <a:off x="2166105" y="0"/>
              <a:ext cx="2643961" cy="1717571"/>
            </a:xfrm>
            <a:prstGeom prst="rect">
              <a:avLst/>
            </a:prstGeom>
            <a:noFill/>
            <a:ln>
              <a:noFill/>
            </a:ln>
          </p:spPr>
          <p:txBody>
            <a:bodyPr anchorCtr="0" anchor="b" bIns="35550" lIns="35550" spcFirstLastPara="1" rIns="35550" wrap="square" tIns="35550">
              <a:noAutofit/>
            </a:bodyPr>
            <a:lstStyle/>
            <a:p>
              <a:pPr indent="0" lvl="0" marL="0" marR="0" rtl="0" algn="ctr">
                <a:lnSpc>
                  <a:spcPct val="90000"/>
                </a:lnSpc>
                <a:spcBef>
                  <a:spcPts val="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Series 1</a:t>
              </a:r>
              <a:br>
                <a:rPr b="0" i="0" lang="en-US" sz="28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sp>
          <p:nvSpPr>
            <p:cNvPr id="64" name="Google Shape;64;p1"/>
            <p:cNvSpPr/>
            <p:nvPr/>
          </p:nvSpPr>
          <p:spPr>
            <a:xfrm>
              <a:off x="1321980" y="1717571"/>
              <a:ext cx="4332210" cy="1096721"/>
            </a:xfrm>
            <a:prstGeom prst="trapezoid">
              <a:avLst>
                <a:gd fmla="val 76968" name="adj"/>
              </a:avLst>
            </a:prstGeom>
            <a:solidFill>
              <a:schemeClr val="accent2"/>
            </a:solidFill>
            <a:ln cap="flat" cmpd="sng" w="635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txBox="1"/>
            <p:nvPr/>
          </p:nvSpPr>
          <p:spPr>
            <a:xfrm>
              <a:off x="2080117" y="1717571"/>
              <a:ext cx="2815936" cy="1096721"/>
            </a:xfrm>
            <a:prstGeom prst="rect">
              <a:avLst/>
            </a:prstGeom>
            <a:noFill/>
            <a:ln>
              <a:noFill/>
            </a:ln>
          </p:spPr>
          <p:txBody>
            <a:bodyPr anchorCtr="0" anchor="b" bIns="35550" lIns="35550" spcFirstLastPara="1" rIns="35550" wrap="square" tIns="35550">
              <a:noAutofit/>
            </a:bodyPr>
            <a:lstStyle/>
            <a:p>
              <a:pPr indent="0" lvl="0" marL="0" marR="0" rtl="0" algn="ctr">
                <a:lnSpc>
                  <a:spcPct val="100000"/>
                </a:lnSpc>
                <a:spcBef>
                  <a:spcPts val="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Series 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98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 name="Google Shape;66;p1"/>
            <p:cNvSpPr/>
            <p:nvPr/>
          </p:nvSpPr>
          <p:spPr>
            <a:xfrm>
              <a:off x="0" y="2814293"/>
              <a:ext cx="6976171" cy="1717571"/>
            </a:xfrm>
            <a:prstGeom prst="trapezoid">
              <a:avLst>
                <a:gd fmla="val 76968" name="adj"/>
              </a:avLst>
            </a:prstGeom>
            <a:solidFill>
              <a:schemeClr val="accent1"/>
            </a:solidFill>
            <a:ln cap="flat" cmpd="sng" w="635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txBox="1"/>
            <p:nvPr/>
          </p:nvSpPr>
          <p:spPr>
            <a:xfrm>
              <a:off x="1220830" y="2814293"/>
              <a:ext cx="4534511" cy="1717571"/>
            </a:xfrm>
            <a:prstGeom prst="rect">
              <a:avLst/>
            </a:prstGeom>
            <a:noFill/>
            <a:ln>
              <a:noFill/>
            </a:ln>
          </p:spPr>
          <p:txBody>
            <a:bodyPr anchorCtr="0" anchor="b" bIns="35550" lIns="35550" spcFirstLastPara="1" rIns="35550" wrap="square" tIns="35550">
              <a:noAutofit/>
            </a:bodyPr>
            <a:lstStyle/>
            <a:p>
              <a:pPr indent="0" lvl="0" marL="0" marR="0" rtl="0" algn="ctr">
                <a:lnSpc>
                  <a:spcPct val="90000"/>
                </a:lnSpc>
                <a:spcBef>
                  <a:spcPts val="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Series 3</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98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descr="Chart Description Border" id="68" name="Google Shape;68;p1"/>
          <p:cNvSpPr/>
          <p:nvPr/>
        </p:nvSpPr>
        <p:spPr>
          <a:xfrm>
            <a:off x="28743182" y="21556778"/>
            <a:ext cx="247650" cy="980381"/>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accent3"/>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lt1"/>
              </a:solidFill>
              <a:latin typeface="Arial"/>
              <a:ea typeface="Arial"/>
              <a:cs typeface="Arial"/>
              <a:sym typeface="Arial"/>
            </a:endParaRPr>
          </a:p>
        </p:txBody>
      </p:sp>
      <p:sp>
        <p:nvSpPr>
          <p:cNvPr descr="Arrow from Chart to Chart Description" id="69" name="Google Shape;69;p1"/>
          <p:cNvSpPr/>
          <p:nvPr/>
        </p:nvSpPr>
        <p:spPr>
          <a:xfrm rot="-5400000">
            <a:off x="27424365" y="20887076"/>
            <a:ext cx="1681427" cy="2132807"/>
          </a:xfrm>
          <a:prstGeom prst="arc">
            <a:avLst>
              <a:gd fmla="val 16200000" name="adj1"/>
              <a:gd fmla="val 2592668" name="adj2"/>
            </a:avLst>
          </a:prstGeom>
          <a:noFill/>
          <a:ln cap="flat" cmpd="sng" w="38100">
            <a:solidFill>
              <a:schemeClr val="accent3"/>
            </a:solidFill>
            <a:prstDash val="dash"/>
            <a:miter lim="800000"/>
            <a:headEnd len="med" w="med" type="stealth"/>
            <a:tailEnd len="med" w="med" type="ova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dk1"/>
              </a:solidFill>
              <a:latin typeface="Arial"/>
              <a:ea typeface="Arial"/>
              <a:cs typeface="Arial"/>
              <a:sym typeface="Arial"/>
            </a:endParaRPr>
          </a:p>
        </p:txBody>
      </p:sp>
      <p:sp>
        <p:nvSpPr>
          <p:cNvPr id="70" name="Google Shape;70;p1"/>
          <p:cNvSpPr txBox="1"/>
          <p:nvPr/>
        </p:nvSpPr>
        <p:spPr>
          <a:xfrm>
            <a:off x="29006939" y="21648437"/>
            <a:ext cx="2194155" cy="802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38"/>
              <a:buFont typeface="Arial"/>
              <a:buNone/>
            </a:pPr>
            <a:r>
              <a:rPr b="1" i="0" lang="en-US" sz="1538" u="none" cap="none" strike="noStrike">
                <a:solidFill>
                  <a:schemeClr val="accent3"/>
                </a:solidFill>
                <a:latin typeface="Arial"/>
                <a:ea typeface="Arial"/>
                <a:cs typeface="Arial"/>
                <a:sym typeface="Arial"/>
              </a:rPr>
              <a:t>Series: </a:t>
            </a:r>
            <a:r>
              <a:rPr b="0" i="0" lang="en-US" sz="1538" u="none" cap="none" strike="noStrike">
                <a:solidFill>
                  <a:schemeClr val="accent3"/>
                </a:solidFill>
                <a:latin typeface="Arial"/>
                <a:ea typeface="Arial"/>
                <a:cs typeface="Arial"/>
                <a:sym typeface="Arial"/>
              </a:rPr>
              <a:t>in et neque dignissim, and in aliquet nisl et umis.</a:t>
            </a:r>
            <a:endParaRPr b="0" i="0" sz="1400" u="none" cap="none" strike="noStrike">
              <a:solidFill>
                <a:srgbClr val="000000"/>
              </a:solidFill>
              <a:latin typeface="Arial"/>
              <a:ea typeface="Arial"/>
              <a:cs typeface="Arial"/>
              <a:sym typeface="Arial"/>
            </a:endParaRPr>
          </a:p>
        </p:txBody>
      </p:sp>
      <p:sp>
        <p:nvSpPr>
          <p:cNvPr id="71" name="Google Shape;71;p1"/>
          <p:cNvSpPr txBox="1"/>
          <p:nvPr/>
        </p:nvSpPr>
        <p:spPr>
          <a:xfrm>
            <a:off x="22442211" y="24505480"/>
            <a:ext cx="9829801" cy="52322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Figure 4. Caption in, 28 points, italicized.  </a:t>
            </a:r>
            <a:endParaRPr b="0" i="0" sz="1400" u="none" cap="none" strike="noStrike">
              <a:solidFill>
                <a:srgbClr val="000000"/>
              </a:solidFill>
              <a:latin typeface="Arial"/>
              <a:ea typeface="Arial"/>
              <a:cs typeface="Arial"/>
              <a:sym typeface="Arial"/>
            </a:endParaRPr>
          </a:p>
        </p:txBody>
      </p:sp>
      <p:sp>
        <p:nvSpPr>
          <p:cNvPr id="72" name="Google Shape;72;p1"/>
          <p:cNvSpPr txBox="1"/>
          <p:nvPr/>
        </p:nvSpPr>
        <p:spPr>
          <a:xfrm>
            <a:off x="22427674" y="25196720"/>
            <a:ext cx="9388093" cy="360526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l">
              <a:lnSpc>
                <a:spcPct val="164285"/>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MAURIS ORCI MI VARIUS ID DIAM</a:t>
            </a:r>
            <a:br>
              <a:rPr b="0" i="0" lang="en-US" sz="2800" u="none" cap="none" strike="noStrike">
                <a:solidFill>
                  <a:srgbClr val="7F7F7F"/>
                </a:solidFill>
                <a:latin typeface="Arial"/>
                <a:ea typeface="Arial"/>
                <a:cs typeface="Arial"/>
                <a:sym typeface="Arial"/>
              </a:rPr>
            </a:br>
            <a:r>
              <a:rPr b="0" i="0" lang="en-US" sz="2800" u="none" cap="none" strike="noStrike">
                <a:solidFill>
                  <a:schemeClr val="dk1"/>
                </a:solidFill>
                <a:latin typeface="Arial"/>
                <a:ea typeface="Arial"/>
                <a:cs typeface="Arial"/>
                <a:sym typeface="Arial"/>
              </a:rPr>
              <a:t>Egestas auctor enim. Praesent ut massa nibh. Duis purus neque, facilisis cursus ultrices vel, ullamcorper ac augue. Donec semper lorem. Mauris orci mi, varius id diam id, egestas auctor enim. Praesent ut massa nibh. Duis purus neque, facilisis tristique quis augue scelerisque. </a:t>
            </a:r>
            <a:endParaRPr b="0" i="0" sz="1400" u="none" cap="none" strike="noStrike">
              <a:solidFill>
                <a:srgbClr val="000000"/>
              </a:solidFill>
              <a:latin typeface="Arial"/>
              <a:ea typeface="Arial"/>
              <a:cs typeface="Arial"/>
              <a:sym typeface="Arial"/>
            </a:endParaRPr>
          </a:p>
        </p:txBody>
      </p:sp>
      <p:sp>
        <p:nvSpPr>
          <p:cNvPr descr="Chart Description Border" id="73" name="Google Shape;73;p1"/>
          <p:cNvSpPr/>
          <p:nvPr/>
        </p:nvSpPr>
        <p:spPr>
          <a:xfrm rot="10800000">
            <a:off x="31201095" y="21556777"/>
            <a:ext cx="249237" cy="981736"/>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accent3"/>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00"/>
              <a:buFont typeface="Arial"/>
              <a:buNone/>
            </a:pPr>
            <a:r>
              <a:t/>
            </a:r>
            <a:endParaRPr b="0" i="0" sz="6200" u="none" cap="none" strike="noStrike">
              <a:solidFill>
                <a:schemeClr val="lt1"/>
              </a:solidFill>
              <a:latin typeface="Arial"/>
              <a:ea typeface="Arial"/>
              <a:cs typeface="Arial"/>
              <a:sym typeface="Arial"/>
            </a:endParaRPr>
          </a:p>
        </p:txBody>
      </p:sp>
      <p:sp>
        <p:nvSpPr>
          <p:cNvPr id="74" name="Google Shape;74;p1"/>
          <p:cNvSpPr txBox="1"/>
          <p:nvPr/>
        </p:nvSpPr>
        <p:spPr>
          <a:xfrm>
            <a:off x="32974233" y="7027661"/>
            <a:ext cx="9829801" cy="523220"/>
          </a:xfrm>
          <a:prstGeom prst="rect">
            <a:avLst/>
          </a:prstGeom>
          <a:solidFill>
            <a:schemeClr val="lt1">
              <a:alpha val="41960"/>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Arial"/>
                <a:ea typeface="Arial"/>
                <a:cs typeface="Arial"/>
                <a:sym typeface="Arial"/>
              </a:rPr>
              <a:t>Table 1. Caption in, 28 points, italicized.  </a:t>
            </a:r>
            <a:endParaRPr b="0" i="0" sz="1400" u="none" cap="none" strike="noStrike">
              <a:solidFill>
                <a:srgbClr val="000000"/>
              </a:solidFill>
              <a:latin typeface="Arial"/>
              <a:ea typeface="Arial"/>
              <a:cs typeface="Arial"/>
              <a:sym typeface="Arial"/>
            </a:endParaRPr>
          </a:p>
        </p:txBody>
      </p:sp>
      <p:graphicFrame>
        <p:nvGraphicFramePr>
          <p:cNvPr id="75" name="Google Shape;75;p1"/>
          <p:cNvGraphicFramePr/>
          <p:nvPr/>
        </p:nvGraphicFramePr>
        <p:xfrm>
          <a:off x="33075105" y="7674597"/>
          <a:ext cx="3000000" cy="3000000"/>
        </p:xfrm>
        <a:graphic>
          <a:graphicData uri="http://schemas.openxmlformats.org/drawingml/2006/table">
            <a:tbl>
              <a:tblPr bandRow="1" firstRow="1">
                <a:noFill/>
                <a:tableStyleId>{42FE4606-C18B-4FD9-BE71-F87F825A702C}</a:tableStyleId>
              </a:tblPr>
              <a:tblGrid>
                <a:gridCol w="2240700"/>
                <a:gridCol w="2505325"/>
                <a:gridCol w="2223050"/>
                <a:gridCol w="2628850"/>
              </a:tblGrid>
              <a:tr h="654050">
                <a:tc gridSpan="4">
                  <a:txBody>
                    <a:bodyPr/>
                    <a:lstStyle/>
                    <a:p>
                      <a:pPr indent="0" lvl="0" marL="0" marR="0" rtl="0" algn="ctr">
                        <a:lnSpc>
                          <a:spcPct val="100000"/>
                        </a:lnSpc>
                        <a:spcBef>
                          <a:spcPts val="0"/>
                        </a:spcBef>
                        <a:spcAft>
                          <a:spcPts val="0"/>
                        </a:spcAft>
                        <a:buClr>
                          <a:srgbClr val="000000"/>
                        </a:buClr>
                        <a:buSzPts val="2700"/>
                        <a:buFont typeface="Arial"/>
                        <a:buNone/>
                      </a:pPr>
                      <a:r>
                        <a:rPr lang="en-US" sz="2700" u="none" cap="none" strike="noStrike"/>
                        <a:t>Chart Title</a:t>
                      </a:r>
                      <a:endParaRPr b="1" sz="2700" u="none" cap="none" strike="noStrike">
                        <a:solidFill>
                          <a:schemeClr val="dk1"/>
                        </a:solidFill>
                      </a:endParaRPr>
                    </a:p>
                  </a:txBody>
                  <a:tcPr marT="0" marB="0" marR="0"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76200">
                      <a:solidFill>
                        <a:schemeClr val="lt1"/>
                      </a:solidFill>
                      <a:prstDash val="solid"/>
                      <a:round/>
                      <a:headEnd len="sm" w="sm" type="none"/>
                      <a:tailEnd len="sm" w="sm" type="none"/>
                    </a:lnB>
                  </a:tcPr>
                </a:tc>
                <a:tc hMerge="1"/>
                <a:tc hMerge="1"/>
                <a:tc hMerge="1"/>
              </a:tr>
              <a:tr h="513750">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t>8.01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100"/>
                        <a:buFont typeface="Arial"/>
                        <a:buNone/>
                      </a:pPr>
                      <a:r>
                        <a:rPr lang="en-US" sz="2100" u="none" cap="none" strike="noStrike"/>
                        <a:t>7.99</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5.77</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6.44</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762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0400">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4.50</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3.11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9.55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1.12</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7075">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6.15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8.00</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6.18</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5.65</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8.21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2.16</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3.11*</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lang="en-US" sz="2100" u="none" cap="none" strike="noStrike"/>
                        <a:t>7.17</a:t>
                      </a:r>
                      <a:endParaRPr b="0" sz="2100" u="none" cap="none" strike="noStrike">
                        <a:solidFill>
                          <a:schemeClr val="dk1"/>
                        </a:solidFill>
                      </a:endParaRPr>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6750">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3.00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9.70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10.50</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100"/>
                        <a:buFont typeface="Arial"/>
                        <a:buNone/>
                      </a:pPr>
                      <a:r>
                        <a:rPr b="0" lang="en-US" sz="2100" u="none" cap="none" strike="noStrike">
                          <a:solidFill>
                            <a:schemeClr val="dk1"/>
                          </a:solidFill>
                        </a:rPr>
                        <a:t>4.45</a:t>
                      </a:r>
                      <a:endParaRPr sz="1400" u="none" cap="none" strike="noStrike"/>
                    </a:p>
                  </a:txBody>
                  <a:tcPr marT="39050" marB="3905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6" name="Google Shape;76;p1"/>
          <p:cNvSpPr txBox="1"/>
          <p:nvPr/>
        </p:nvSpPr>
        <p:spPr>
          <a:xfrm>
            <a:off x="33028817" y="11382967"/>
            <a:ext cx="9421181" cy="2425450"/>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164285"/>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Mauris orci mi, varius id diam id, egestas auctor enim. Praesent ut massa nibh. Duis purus neque, facilisis cursus ultrices vel, ullamcorper ac augue. Donec semper lorem vitae urna pulvinar,.</a:t>
            </a:r>
            <a:endParaRPr b="0" i="0" sz="1400" u="none" cap="none" strike="noStrike">
              <a:solidFill>
                <a:srgbClr val="000000"/>
              </a:solidFill>
              <a:latin typeface="Arial"/>
              <a:ea typeface="Arial"/>
              <a:cs typeface="Arial"/>
              <a:sym typeface="Arial"/>
            </a:endParaRPr>
          </a:p>
        </p:txBody>
      </p:sp>
      <p:sp>
        <p:nvSpPr>
          <p:cNvPr id="77" name="Google Shape;77;p1"/>
          <p:cNvSpPr txBox="1"/>
          <p:nvPr/>
        </p:nvSpPr>
        <p:spPr>
          <a:xfrm>
            <a:off x="33028817" y="14510867"/>
            <a:ext cx="9562316" cy="7170339"/>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95833"/>
              </a:lnSpc>
              <a:spcBef>
                <a:spcPts val="0"/>
              </a:spcBef>
              <a:spcAft>
                <a:spcPts val="0"/>
              </a:spcAft>
              <a:buClr>
                <a:srgbClr val="000000"/>
              </a:buClr>
              <a:buSzPts val="4800"/>
              <a:buFont typeface="Arial"/>
              <a:buNone/>
            </a:pPr>
            <a:r>
              <a:rPr b="1" i="0" lang="en-US" sz="4800" u="sng" cap="none" strike="noStrike">
                <a:solidFill>
                  <a:srgbClr val="5D0025"/>
                </a:solidFill>
                <a:latin typeface="Arial"/>
                <a:ea typeface="Arial"/>
                <a:cs typeface="Arial"/>
                <a:sym typeface="Arial"/>
              </a:rPr>
              <a:t>Impact </a:t>
            </a:r>
            <a:endParaRPr b="0" i="0" sz="1400" u="none" cap="none" strike="noStrike">
              <a:solidFill>
                <a:srgbClr val="000000"/>
              </a:solidFill>
              <a:latin typeface="Arial"/>
              <a:ea typeface="Arial"/>
              <a:cs typeface="Arial"/>
              <a:sym typeface="Arial"/>
            </a:endParaRPr>
          </a:p>
          <a:p>
            <a:pPr indent="0" lvl="0" marL="0" marR="0" rtl="0" algn="l">
              <a:lnSpc>
                <a:spcPct val="164285"/>
              </a:lnSpc>
              <a:spcBef>
                <a:spcPts val="12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Mauris orci mi, varius id diam id, egestas auctor enim. Praesent ut massa nibh. Duis purus neque, facilisis cursus ultrices vel, ullamcorper ac augue. Donec semper lorem:</a:t>
            </a:r>
            <a:endParaRPr b="0" i="0" sz="1400" u="none" cap="none" strike="noStrike">
              <a:solidFill>
                <a:srgbClr val="000000"/>
              </a:solidFill>
              <a:latin typeface="Arial"/>
              <a:ea typeface="Arial"/>
              <a:cs typeface="Arial"/>
              <a:sym typeface="Arial"/>
            </a:endParaRPr>
          </a:p>
          <a:p>
            <a:pPr indent="-457200" lvl="1" marL="914400" marR="0" rtl="0" algn="l">
              <a:lnSpc>
                <a:spcPct val="164285"/>
              </a:lnSpc>
              <a:spcBef>
                <a:spcPts val="1200"/>
              </a:spcBef>
              <a:spcAft>
                <a:spcPts val="0"/>
              </a:spcAft>
              <a:buClr>
                <a:schemeClr val="dk2"/>
              </a:buClr>
              <a:buSzPts val="3500"/>
              <a:buFont typeface="Arial"/>
              <a:buChar char="•"/>
            </a:pPr>
            <a:r>
              <a:rPr b="1" i="0" lang="en-US" sz="2800" u="none" cap="none" strike="noStrike">
                <a:solidFill>
                  <a:schemeClr val="dk1"/>
                </a:solidFill>
                <a:latin typeface="Arial"/>
                <a:ea typeface="Arial"/>
                <a:cs typeface="Arial"/>
                <a:sym typeface="Arial"/>
              </a:rPr>
              <a:t>Sed Risus Nibh: </a:t>
            </a:r>
            <a:r>
              <a:rPr b="0" i="0" lang="en-US" sz="2800" u="none" cap="none" strike="noStrike">
                <a:solidFill>
                  <a:schemeClr val="dk1"/>
                </a:solidFill>
                <a:latin typeface="Arial"/>
                <a:ea typeface="Arial"/>
                <a:cs typeface="Arial"/>
                <a:sym typeface="Arial"/>
              </a:rPr>
              <a:t>CiIn nisl quam, aliquet sed nibh sitamet, faucibus placerat dui augue scelerisque. </a:t>
            </a:r>
            <a:endParaRPr b="0" i="0" sz="1400" u="none" cap="none" strike="noStrike">
              <a:solidFill>
                <a:srgbClr val="000000"/>
              </a:solidFill>
              <a:latin typeface="Arial"/>
              <a:ea typeface="Arial"/>
              <a:cs typeface="Arial"/>
              <a:sym typeface="Arial"/>
            </a:endParaRPr>
          </a:p>
          <a:p>
            <a:pPr indent="-457200" lvl="1" marL="914400" marR="0" rtl="0" algn="l">
              <a:lnSpc>
                <a:spcPct val="164285"/>
              </a:lnSpc>
              <a:spcBef>
                <a:spcPts val="1200"/>
              </a:spcBef>
              <a:spcAft>
                <a:spcPts val="0"/>
              </a:spcAft>
              <a:buClr>
                <a:schemeClr val="dk2"/>
              </a:buClr>
              <a:buSzPts val="3500"/>
              <a:buFont typeface="Arial"/>
              <a:buChar char="•"/>
            </a:pPr>
            <a:r>
              <a:rPr b="1" i="0" lang="en-US" sz="2800" u="none" cap="none" strike="noStrike">
                <a:solidFill>
                  <a:schemeClr val="dk1"/>
                </a:solidFill>
                <a:latin typeface="Arial"/>
                <a:ea typeface="Arial"/>
                <a:cs typeface="Arial"/>
                <a:sym typeface="Arial"/>
              </a:rPr>
              <a:t>Curabitur Accumsan Nulla: </a:t>
            </a:r>
            <a:r>
              <a:rPr b="0" i="0" lang="en-US" sz="2800" u="none" cap="none" strike="noStrike">
                <a:solidFill>
                  <a:schemeClr val="dk1"/>
                </a:solidFill>
                <a:latin typeface="Arial"/>
                <a:ea typeface="Arial"/>
                <a:cs typeface="Arial"/>
                <a:sym typeface="Arial"/>
              </a:rPr>
              <a:t>Fusce quis augue urna scelerisque, luctus rum sed, ut dolor in pulvinar in eros.</a:t>
            </a:r>
            <a:endParaRPr b="0" i="0" sz="1400" u="none" cap="none" strike="noStrike">
              <a:solidFill>
                <a:srgbClr val="000000"/>
              </a:solidFill>
              <a:latin typeface="Arial"/>
              <a:ea typeface="Arial"/>
              <a:cs typeface="Arial"/>
              <a:sym typeface="Arial"/>
            </a:endParaRPr>
          </a:p>
          <a:p>
            <a:pPr indent="-457200" lvl="1" marL="914400" marR="0" rtl="0" algn="l">
              <a:lnSpc>
                <a:spcPct val="164285"/>
              </a:lnSpc>
              <a:spcBef>
                <a:spcPts val="1200"/>
              </a:spcBef>
              <a:spcAft>
                <a:spcPts val="0"/>
              </a:spcAft>
              <a:buClr>
                <a:schemeClr val="dk2"/>
              </a:buClr>
              <a:buSzPts val="3500"/>
              <a:buFont typeface="Arial"/>
              <a:buChar char="•"/>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Elementum Orci Dignissim:</a:t>
            </a:r>
            <a:r>
              <a:rPr b="0" i="0" lang="en-US" sz="2800" u="none" cap="none" strike="noStrike">
                <a:solidFill>
                  <a:schemeClr val="dk1"/>
                </a:solidFill>
                <a:latin typeface="Arial"/>
                <a:ea typeface="Arial"/>
                <a:cs typeface="Arial"/>
                <a:sym typeface="Arial"/>
              </a:rPr>
              <a:t> Proin semper ipsum finibus quam tempor, vitae.</a:t>
            </a:r>
            <a:endParaRPr b="0" i="0" sz="1400" u="none" cap="none" strike="noStrike">
              <a:solidFill>
                <a:srgbClr val="000000"/>
              </a:solidFill>
              <a:latin typeface="Arial"/>
              <a:ea typeface="Arial"/>
              <a:cs typeface="Arial"/>
              <a:sym typeface="Arial"/>
            </a:endParaRPr>
          </a:p>
        </p:txBody>
      </p:sp>
      <p:cxnSp>
        <p:nvCxnSpPr>
          <p:cNvPr id="78" name="Google Shape;78;p1"/>
          <p:cNvCxnSpPr/>
          <p:nvPr/>
        </p:nvCxnSpPr>
        <p:spPr>
          <a:xfrm>
            <a:off x="33028817" y="25028700"/>
            <a:ext cx="9482518" cy="0"/>
          </a:xfrm>
          <a:prstGeom prst="straightConnector1">
            <a:avLst/>
          </a:prstGeom>
          <a:noFill/>
          <a:ln cap="flat" cmpd="sng" w="25400">
            <a:solidFill>
              <a:schemeClr val="dk1"/>
            </a:solidFill>
            <a:prstDash val="dash"/>
            <a:round/>
            <a:headEnd len="sm" w="sm" type="none"/>
            <a:tailEnd len="sm" w="sm" type="none"/>
          </a:ln>
        </p:spPr>
      </p:cxnSp>
      <p:sp>
        <p:nvSpPr>
          <p:cNvPr id="79" name="Google Shape;79;p1"/>
          <p:cNvSpPr txBox="1"/>
          <p:nvPr/>
        </p:nvSpPr>
        <p:spPr>
          <a:xfrm>
            <a:off x="32974233" y="25400882"/>
            <a:ext cx="9917100" cy="4710000"/>
          </a:xfrm>
          <a:prstGeom prst="rect">
            <a:avLst/>
          </a:prstGeom>
          <a:solidFill>
            <a:schemeClr val="lt1">
              <a:alpha val="62745"/>
            </a:schemeClr>
          </a:solid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000000"/>
              </a:buClr>
              <a:buSzPts val="4000"/>
              <a:buFont typeface="Arial"/>
              <a:buNone/>
            </a:pPr>
            <a:r>
              <a:rPr b="1" i="0" lang="en-US" sz="4000" u="sng" cap="none" strike="noStrike">
                <a:solidFill>
                  <a:srgbClr val="5D0025"/>
                </a:solidFill>
                <a:latin typeface="Arial"/>
                <a:ea typeface="Arial"/>
                <a:cs typeface="Arial"/>
                <a:sym typeface="Arial"/>
              </a:rPr>
              <a:t>References</a:t>
            </a:r>
            <a:endParaRPr b="0" i="0" sz="4000" u="sng" cap="none" strike="noStrike">
              <a:solidFill>
                <a:srgbClr val="5D0025"/>
              </a:solidFill>
              <a:latin typeface="Arial"/>
              <a:ea typeface="Arial"/>
              <a:cs typeface="Arial"/>
              <a:sym typeface="Arial"/>
            </a:endParaRPr>
          </a:p>
          <a:p>
            <a:pPr indent="0" lvl="0" marL="0" marR="0" rtl="0" algn="l">
              <a:lnSpc>
                <a:spcPct val="158333"/>
              </a:lnSpc>
              <a:spcBef>
                <a:spcPts val="120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a:t>
            </a:r>
            <a:r>
              <a:rPr lang="en-US" sz="2400" u="sng">
                <a:solidFill>
                  <a:schemeClr val="hlink"/>
                </a:solidFill>
                <a:hlinkClick r:id="rId10"/>
              </a:rPr>
              <a:t>arXiv:2410.05779</a:t>
            </a:r>
            <a:r>
              <a:rPr lang="en-US" sz="2400"/>
              <a:t> [</a:t>
            </a:r>
            <a:r>
              <a:rPr lang="en-US" sz="2400" u="sng">
                <a:solidFill>
                  <a:schemeClr val="hlink"/>
                </a:solidFill>
                <a:hlinkClick r:id="rId11"/>
              </a:rPr>
              <a:t>cs.IR</a:t>
            </a:r>
            <a:r>
              <a:rPr lang="en-US" sz="2400"/>
              <a:t>] (LightRAG: Simple and Fast RAG)</a:t>
            </a:r>
            <a:endParaRPr b="0" i="0" sz="2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Mauris orci mi, varius id diam id, egestas auctor enim</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Duis vitae tincidunt tortor, vitae sollicitudin magna</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Aenean et est sem. Phasellus nec lectus bibendum</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Lacinia magna. Mauris orci mi, varius id diam id, egestas </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Mauris orci mi, varius id diam id, egestas auctor enim</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chemeClr val="dk2"/>
              </a:buClr>
              <a:buSzPts val="2400"/>
              <a:buFont typeface="Arial"/>
              <a:buAutoNum type="arabicPeriod"/>
            </a:pPr>
            <a:r>
              <a:rPr b="0" i="0" lang="en-US" sz="2400" u="none" cap="none" strike="noStrike">
                <a:solidFill>
                  <a:schemeClr val="dk1"/>
                </a:solidFill>
                <a:latin typeface="Arial"/>
                <a:ea typeface="Arial"/>
                <a:cs typeface="Arial"/>
                <a:sym typeface="Arial"/>
              </a:rPr>
              <a:t>  Duis vitae tincidunt tortor, vitae sollicitudin magna</a:t>
            </a:r>
            <a:endParaRPr b="0" i="0" sz="1400" u="none" cap="none" strike="noStrike">
              <a:solidFill>
                <a:srgbClr val="000000"/>
              </a:solidFill>
              <a:latin typeface="Arial"/>
              <a:ea typeface="Arial"/>
              <a:cs typeface="Arial"/>
              <a:sym typeface="Arial"/>
            </a:endParaRPr>
          </a:p>
        </p:txBody>
      </p:sp>
      <p:pic>
        <p:nvPicPr>
          <p:cNvPr id="80" name="Google Shape;80;p1"/>
          <p:cNvPicPr preferRelativeResize="0"/>
          <p:nvPr/>
        </p:nvPicPr>
        <p:blipFill>
          <a:blip r:embed="rId12">
            <a:alphaModFix/>
          </a:blip>
          <a:stretch>
            <a:fillRect/>
          </a:stretch>
        </p:blipFill>
        <p:spPr>
          <a:xfrm>
            <a:off x="38668725" y="563925"/>
            <a:ext cx="4222650" cy="4222650"/>
          </a:xfrm>
          <a:prstGeom prst="rect">
            <a:avLst/>
          </a:prstGeom>
          <a:noFill/>
          <a:ln>
            <a:noFill/>
          </a:ln>
        </p:spPr>
      </p:pic>
      <p:pic>
        <p:nvPicPr>
          <p:cNvPr id="81" name="Google Shape;81;p1"/>
          <p:cNvPicPr preferRelativeResize="0"/>
          <p:nvPr/>
        </p:nvPicPr>
        <p:blipFill>
          <a:blip r:embed="rId13">
            <a:alphaModFix/>
          </a:blip>
          <a:stretch>
            <a:fillRect/>
          </a:stretch>
        </p:blipFill>
        <p:spPr>
          <a:xfrm>
            <a:off x="2552175" y="23376127"/>
            <a:ext cx="6554249" cy="80150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2016-09-29T18:43:16Z</dcterms:created>
  <dc:creator>Lagoudas, Magdalini Z</dc:creator>
</cp:coreProperties>
</file>