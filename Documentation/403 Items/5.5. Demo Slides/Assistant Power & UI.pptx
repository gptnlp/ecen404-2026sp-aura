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t1fzigjHJxK8xwUOMxwIzqwXO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5CA183-8F6E-453E-A98F-15D72E4A5906}">
  <a:tblStyle styleId="{585CA183-8F6E-453E-A98F-15D72E4A590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5abc7660d_2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85abc7660d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cde15b3df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acde15b3d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cde15b3df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acde15b3d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27491" cy="412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youtube.com/shorts/FszawHdqdSw" TargetMode="External"/><Relationship Id="rId4" Type="http://schemas.openxmlformats.org/officeDocument/2006/relationships/hyperlink" Target="https://youtube.com/shorts/SU-bXazJRWA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localhost:5173/" TargetMode="External"/><Relationship Id="rId4" Type="http://schemas.openxmlformats.org/officeDocument/2006/relationships/hyperlink" Target="http://10.246.243.181:517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969582" y="2130425"/>
            <a:ext cx="4488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ECE</a:t>
            </a:r>
            <a:r>
              <a:rPr lang="en-US"/>
              <a:t>N</a:t>
            </a: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403</a:t>
            </a:r>
            <a:b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/>
              <a:t>Power &amp; UI Subsystem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093334" cy="52561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2139075" y="3886200"/>
            <a:ext cx="6319200" cy="26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/>
              <a:t>GPT NLP Lab Assistant  </a:t>
            </a:r>
            <a:r>
              <a:rPr lang="en-US"/>
              <a:t>Team #: 35</a:t>
            </a: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/>
              <a:t>Muhammed Faseeh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Michael Fritzer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David Haybarger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Kevin Lee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TA: </a:t>
            </a:r>
            <a:r>
              <a:rPr lang="en-US">
                <a:solidFill>
                  <a:schemeClr val="lt1"/>
                </a:solidFill>
              </a:rPr>
              <a:t>Fahrettin Ay</a:t>
            </a:r>
            <a:r>
              <a:rPr lang="en-US"/>
              <a:t> </a:t>
            </a:r>
            <a:br>
              <a:rPr lang="en-US"/>
            </a:br>
            <a:endParaRPr/>
          </a:p>
        </p:txBody>
      </p:sp>
      <p:sp>
        <p:nvSpPr>
          <p:cNvPr id="58" name="Google Shape;58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875" y="871576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Project Execution &amp; Validation </a:t>
            </a:r>
            <a:endParaRPr/>
          </a:p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5" name="Google Shape;65;p8"/>
          <p:cNvGraphicFramePr/>
          <p:nvPr/>
        </p:nvGraphicFramePr>
        <p:xfrm>
          <a:off x="682900" y="1782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{585CA183-8F6E-453E-A98F-15D72E4A5906}</a:tableStyleId>
              </a:tblPr>
              <a:tblGrid>
                <a:gridCol w="3861950"/>
                <a:gridCol w="3916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Test Name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Validation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Battery Pack Creation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Pack provides ≥14.6 V max, safe charging/discharging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53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Jetson Buck Converter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Fails, Possible issues (bad solder or mosfet wrong orientation, fried a component)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ESP-32 Buck Converter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Provides ~3.3V with a max of 2A at the Load. The range should be 12.6-16.8 but I think the enable calculations could have been off because it turns on around 15.1.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Servo 1 &amp; 2 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Buck Converter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I shorted Servo 2 and Servo 1 is definitely a poor solder job on the inductor portion.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Servo 3 Buck Converter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The voltage is correctly 8V but when inducing a load it drops to almost 0. Solder issue most likely.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UI Functionality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Front end UI with a temporary backend that ties together everything. API and integration will be taken care of next semester.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66" name="Google Shape;66;p8"/>
          <p:cNvSpPr txBox="1"/>
          <p:nvPr>
            <p:ph type="title"/>
          </p:nvPr>
        </p:nvSpPr>
        <p:spPr>
          <a:xfrm>
            <a:off x="397450" y="8715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Validation – Muhammed Faseeh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5abc7660d_2_1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Power System </a:t>
            </a:r>
            <a:r>
              <a:rPr lang="en-US"/>
              <a:t>– Muhammed Faseeh</a:t>
            </a:r>
            <a:endParaRPr/>
          </a:p>
        </p:txBody>
      </p:sp>
      <p:sp>
        <p:nvSpPr>
          <p:cNvPr id="72" name="Google Shape;72;g385abc7660d_2_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g385abc7660d_2_15"/>
          <p:cNvSpPr txBox="1"/>
          <p:nvPr>
            <p:ph idx="1" type="body"/>
          </p:nvPr>
        </p:nvSpPr>
        <p:spPr>
          <a:xfrm>
            <a:off x="3431700" y="1852875"/>
            <a:ext cx="228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r>
              <a:rPr lang="en-US" sz="2300"/>
              <a:t>TI - WEBENCH</a:t>
            </a:r>
            <a:endParaRPr sz="3400"/>
          </a:p>
        </p:txBody>
      </p:sp>
      <p:sp>
        <p:nvSpPr>
          <p:cNvPr id="74" name="Google Shape;74;g385abc7660d_2_15"/>
          <p:cNvSpPr txBox="1"/>
          <p:nvPr>
            <p:ph idx="1" type="body"/>
          </p:nvPr>
        </p:nvSpPr>
        <p:spPr>
          <a:xfrm>
            <a:off x="4705775" y="3861475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br>
              <a:rPr b="1" lang="en-US" sz="1500"/>
            </a:br>
            <a:endParaRPr sz="2200"/>
          </a:p>
        </p:txBody>
      </p:sp>
      <p:sp>
        <p:nvSpPr>
          <p:cNvPr id="75" name="Google Shape;75;g385abc7660d_2_15"/>
          <p:cNvSpPr txBox="1"/>
          <p:nvPr/>
        </p:nvSpPr>
        <p:spPr>
          <a:xfrm>
            <a:off x="5041950" y="2363825"/>
            <a:ext cx="170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Jetson: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85abc7660d_2_15"/>
          <p:cNvSpPr txBox="1"/>
          <p:nvPr/>
        </p:nvSpPr>
        <p:spPr>
          <a:xfrm>
            <a:off x="457200" y="2363825"/>
            <a:ext cx="4086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ESP-32:</a:t>
            </a:r>
            <a:r>
              <a:rPr lang="en-US" sz="1500" u="none">
                <a:solidFill>
                  <a:schemeClr val="dk1"/>
                </a:solidFill>
              </a:rPr>
              <a:t> </a:t>
            </a:r>
            <a:r>
              <a:rPr lang="en-US" sz="1500" u="sng">
                <a:solidFill>
                  <a:schemeClr val="hlink"/>
                </a:solidFill>
                <a:hlinkClick r:id="rId3"/>
              </a:rPr>
              <a:t>Low Load</a:t>
            </a:r>
            <a:r>
              <a:rPr lang="en-US" sz="1500">
                <a:solidFill>
                  <a:schemeClr val="dk1"/>
                </a:solidFill>
              </a:rPr>
              <a:t>   </a:t>
            </a:r>
            <a:r>
              <a:rPr lang="en-US" sz="1500" u="sng">
                <a:solidFill>
                  <a:schemeClr val="hlink"/>
                </a:solidFill>
                <a:hlinkClick r:id="rId4"/>
              </a:rPr>
              <a:t>High Load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g385abc7660d_2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038" y="2728918"/>
            <a:ext cx="4085950" cy="3745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85abc7660d_2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4324" y="2828702"/>
            <a:ext cx="4085950" cy="3810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cde15b3df_0_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Power System – Muhammed Faseeh</a:t>
            </a:r>
            <a:endParaRPr/>
          </a:p>
        </p:txBody>
      </p:sp>
      <p:sp>
        <p:nvSpPr>
          <p:cNvPr id="84" name="Google Shape;84;g3acde15b3df_0_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g3acde15b3df_0_9"/>
          <p:cNvSpPr txBox="1"/>
          <p:nvPr>
            <p:ph idx="1" type="body"/>
          </p:nvPr>
        </p:nvSpPr>
        <p:spPr>
          <a:xfrm>
            <a:off x="3431700" y="1852875"/>
            <a:ext cx="228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r>
              <a:rPr lang="en-US" sz="2300"/>
              <a:t>TI - WEBENCH</a:t>
            </a:r>
            <a:endParaRPr sz="3400"/>
          </a:p>
        </p:txBody>
      </p:sp>
      <p:sp>
        <p:nvSpPr>
          <p:cNvPr id="86" name="Google Shape;86;g3acde15b3df_0_9"/>
          <p:cNvSpPr txBox="1"/>
          <p:nvPr>
            <p:ph idx="1" type="body"/>
          </p:nvPr>
        </p:nvSpPr>
        <p:spPr>
          <a:xfrm>
            <a:off x="4705775" y="3861475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br>
              <a:rPr b="1" lang="en-US" sz="1500"/>
            </a:br>
            <a:endParaRPr sz="2200"/>
          </a:p>
        </p:txBody>
      </p:sp>
      <p:sp>
        <p:nvSpPr>
          <p:cNvPr id="87" name="Google Shape;87;g3acde15b3df_0_9"/>
          <p:cNvSpPr txBox="1"/>
          <p:nvPr/>
        </p:nvSpPr>
        <p:spPr>
          <a:xfrm>
            <a:off x="3599450" y="2363825"/>
            <a:ext cx="170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Servos: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g3acde15b3df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513" y="2869375"/>
            <a:ext cx="4400975" cy="3551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cde15b3df_0_2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UI – Muhammed Faseeh</a:t>
            </a:r>
            <a:endParaRPr/>
          </a:p>
        </p:txBody>
      </p:sp>
      <p:sp>
        <p:nvSpPr>
          <p:cNvPr id="94" name="Google Shape;94;g3acde15b3df_0_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g3acde15b3df_0_22"/>
          <p:cNvSpPr txBox="1"/>
          <p:nvPr>
            <p:ph idx="1" type="body"/>
          </p:nvPr>
        </p:nvSpPr>
        <p:spPr>
          <a:xfrm>
            <a:off x="4705775" y="3861475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br>
              <a:rPr b="1" lang="en-US" sz="1500"/>
            </a:br>
            <a:endParaRPr sz="2200"/>
          </a:p>
        </p:txBody>
      </p:sp>
      <p:sp>
        <p:nvSpPr>
          <p:cNvPr id="96" name="Google Shape;96;g3acde15b3df_0_22"/>
          <p:cNvSpPr txBox="1"/>
          <p:nvPr>
            <p:ph idx="1" type="body"/>
          </p:nvPr>
        </p:nvSpPr>
        <p:spPr>
          <a:xfrm>
            <a:off x="733350" y="1852875"/>
            <a:ext cx="76773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rPr lang="en-US" sz="2300"/>
              <a:t>React + Vite + TypeScript + NodeJS (Frontend)</a:t>
            </a:r>
            <a:endParaRPr sz="23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rPr lang="en-US" sz="2300"/>
              <a:t>Python WebSocket Server (Camera Feed Backend)</a:t>
            </a:r>
            <a:endParaRPr sz="23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r>
              <a:t/>
            </a:r>
            <a:endParaRPr sz="2300"/>
          </a:p>
        </p:txBody>
      </p:sp>
      <p:sp>
        <p:nvSpPr>
          <p:cNvPr id="97" name="Google Shape;97;g3acde15b3df_0_22"/>
          <p:cNvSpPr txBox="1"/>
          <p:nvPr>
            <p:ph idx="1" type="body"/>
          </p:nvPr>
        </p:nvSpPr>
        <p:spPr>
          <a:xfrm>
            <a:off x="1972700" y="3618225"/>
            <a:ext cx="50421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rPr lang="en-US" sz="2300" u="sng">
                <a:solidFill>
                  <a:schemeClr val="hlink"/>
                </a:solidFill>
                <a:hlinkClick r:id="rId3"/>
              </a:rPr>
              <a:t>http://localhost:5173/</a:t>
            </a:r>
            <a:br>
              <a:rPr lang="en-US" sz="2300"/>
            </a:br>
            <a:r>
              <a:rPr lang="en-US" sz="2300" u="sng">
                <a:solidFill>
                  <a:schemeClr val="hlink"/>
                </a:solidFill>
                <a:hlinkClick r:id="rId4"/>
              </a:rPr>
              <a:t>http://10.246.243.181:5173/</a:t>
            </a:r>
            <a:r>
              <a:rPr lang="en-US" sz="2300"/>
              <a:t> </a:t>
            </a:r>
            <a:endParaRPr sz="23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r>
              <a:rPr lang="en-US" sz="2300"/>
              <a:t>  </a:t>
            </a:r>
            <a:endParaRPr sz="3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