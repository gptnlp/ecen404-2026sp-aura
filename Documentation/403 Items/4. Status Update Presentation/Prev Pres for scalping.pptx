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sa8dFDTkpMHQpSJnXsnYOh/1r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7B5BE5-CD00-4F67-8757-674DA4D171A4}">
  <a:tblStyle styleId="{7A7B5BE5-CD00-4F67-8757-674DA4D171A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DAF2FF0-0EED-4BD6-BF21-6138C22EAFE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20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David will Read</a:t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database, Muhammed will do a quick glanceover</a:t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5abc7660d_3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85abc7660d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5abc7660d_3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85abc7660d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a7c2cde4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5a7c2cde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5a7c2cde4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5a7c2cde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5abc7660d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85abc766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5a7c2cde4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85a7c2cde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5a839c5cc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85a839c5c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5abc7660d_2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85abc7660d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abc7660d_2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85abc7660d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5a839c5cc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85a839c5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937e65582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8937e6558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937e65582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8937e6558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5b6ad905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85b6ad90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27491" cy="41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hyperlink" Target="https://doi.org/10.48550/arXiv.2410.0577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/>
              <a:t>Status Update 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2139075" y="3886200"/>
            <a:ext cx="6319200" cy="26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/>
              <a:t>GPT NLP Lab Assistant  </a:t>
            </a:r>
            <a:r>
              <a:rPr lang="en-US"/>
              <a:t>Team #: 35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Muhammed Faseeh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Michael Fritzer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David Haybarger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Kevin Lee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TA: </a:t>
            </a:r>
            <a:r>
              <a:rPr lang="en-US">
                <a:solidFill>
                  <a:schemeClr val="lt1"/>
                </a:solidFill>
              </a:rPr>
              <a:t>Fahrettin Ay</a:t>
            </a:r>
            <a:r>
              <a:rPr lang="en-US"/>
              <a:t> 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457200" y="1852933"/>
            <a:ext cx="5359400" cy="401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Students &amp; researchers often face challenges completing tasks due to a lack of quality assistance caused by Assistants &amp; Professors unavailability.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Build a lab assistant that is capable of subsidizing most functionalities that a TA or professor would generally provide combined with the advantages of having an LLM on standby.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25" y="4376289"/>
            <a:ext cx="2653676" cy="198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 title="3e405d6f31a54c349bc58b7340d3af70.jpeg"/>
          <p:cNvPicPr preferRelativeResize="0"/>
          <p:nvPr/>
        </p:nvPicPr>
        <p:blipFill rotWithShape="1">
          <a:blip r:embed="rId4">
            <a:alphaModFix/>
          </a:blip>
          <a:srcRect b="0" l="32474" r="36413" t="0"/>
          <a:stretch/>
        </p:blipFill>
        <p:spPr>
          <a:xfrm>
            <a:off x="6553200" y="282550"/>
            <a:ext cx="2133599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457200" y="823036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73" name="Google Shape;73;p3"/>
          <p:cNvSpPr txBox="1"/>
          <p:nvPr>
            <p:ph idx="12" type="sldNum"/>
          </p:nvPr>
        </p:nvSpPr>
        <p:spPr>
          <a:xfrm>
            <a:off x="8450550" y="6356350"/>
            <a:ext cx="23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26175"/>
            <a:ext cx="7800198" cy="46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Voice and Image Interface – Kevin Lee</a:t>
            </a:r>
            <a:endParaRPr/>
          </a:p>
        </p:txBody>
      </p:sp>
      <p:sp>
        <p:nvSpPr>
          <p:cNvPr id="80" name="Google Shape;80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7"/>
          <p:cNvSpPr txBox="1"/>
          <p:nvPr>
            <p:ph idx="1" type="body"/>
          </p:nvPr>
        </p:nvSpPr>
        <p:spPr>
          <a:xfrm>
            <a:off x="495150" y="1895175"/>
            <a:ext cx="80184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Goal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Enable speech-driven interaction with real-time STT → AI → TTS response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Combine speech and image understanding (multimodal AI) for contextual question answering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Tools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STT: OpenAI Whisper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TTS: Coqui TTS / PyTorch Vocoder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Vision: Segment Anything Model (SAM 2) + OpenCV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Plan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Speech Input: Analog audio → USB ADC → Whisper STT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Censorship &amp; Translation: Lexical filter → Language detection → Translation to English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AI Processing: Text → Local LLM + RAG → Contextual Answer Generation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Output: TTS → DAC → Speaker / Display UI Response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Optional Vision: Camera image → SAM/OpenCV → Fused with STT for multimodal query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5abc7660d_3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Voice and Image Interface – Kevin Lee</a:t>
            </a:r>
            <a:endParaRPr/>
          </a:p>
        </p:txBody>
      </p:sp>
      <p:sp>
        <p:nvSpPr>
          <p:cNvPr id="87" name="Google Shape;87;g385abc7660d_3_12"/>
          <p:cNvSpPr txBox="1"/>
          <p:nvPr>
            <p:ph idx="12" type="sldNum"/>
          </p:nvPr>
        </p:nvSpPr>
        <p:spPr>
          <a:xfrm>
            <a:off x="7890919" y="629922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g385abc7660d_3_12"/>
          <p:cNvSpPr/>
          <p:nvPr/>
        </p:nvSpPr>
        <p:spPr>
          <a:xfrm>
            <a:off x="7744675" y="1977650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Microphone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85abc7660d_3_12"/>
          <p:cNvSpPr/>
          <p:nvPr/>
        </p:nvSpPr>
        <p:spPr>
          <a:xfrm>
            <a:off x="7744675" y="2674448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ADC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85abc7660d_3_12"/>
          <p:cNvSpPr/>
          <p:nvPr/>
        </p:nvSpPr>
        <p:spPr>
          <a:xfrm>
            <a:off x="8088545" y="2419412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85abc7660d_3_12"/>
          <p:cNvSpPr/>
          <p:nvPr/>
        </p:nvSpPr>
        <p:spPr>
          <a:xfrm>
            <a:off x="7744675" y="3372077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Whisper STT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85abc7660d_3_12"/>
          <p:cNvSpPr/>
          <p:nvPr/>
        </p:nvSpPr>
        <p:spPr>
          <a:xfrm>
            <a:off x="8088545" y="3117040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85abc7660d_3_12"/>
          <p:cNvSpPr/>
          <p:nvPr/>
        </p:nvSpPr>
        <p:spPr>
          <a:xfrm>
            <a:off x="7744675" y="4068976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Censorship/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85abc7660d_3_12"/>
          <p:cNvSpPr/>
          <p:nvPr/>
        </p:nvSpPr>
        <p:spPr>
          <a:xfrm>
            <a:off x="8088545" y="3813939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85abc7660d_3_12"/>
          <p:cNvSpPr/>
          <p:nvPr/>
        </p:nvSpPr>
        <p:spPr>
          <a:xfrm>
            <a:off x="7744675" y="4766605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LLM+RAG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85abc7660d_3_12"/>
          <p:cNvSpPr/>
          <p:nvPr/>
        </p:nvSpPr>
        <p:spPr>
          <a:xfrm>
            <a:off x="8088545" y="4511568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85abc7660d_3_12"/>
          <p:cNvSpPr/>
          <p:nvPr/>
        </p:nvSpPr>
        <p:spPr>
          <a:xfrm>
            <a:off x="7744675" y="5470310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TTS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85abc7660d_3_12"/>
          <p:cNvSpPr/>
          <p:nvPr/>
        </p:nvSpPr>
        <p:spPr>
          <a:xfrm>
            <a:off x="8088545" y="5215273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85abc7660d_3_12"/>
          <p:cNvSpPr/>
          <p:nvPr/>
        </p:nvSpPr>
        <p:spPr>
          <a:xfrm>
            <a:off x="7744675" y="6167938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Speaker/</a:t>
            </a:r>
            <a:b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85abc7660d_3_12"/>
          <p:cNvSpPr/>
          <p:nvPr/>
        </p:nvSpPr>
        <p:spPr>
          <a:xfrm>
            <a:off x="8088545" y="5912902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85abc7660d_3_12"/>
          <p:cNvSpPr/>
          <p:nvPr/>
        </p:nvSpPr>
        <p:spPr>
          <a:xfrm>
            <a:off x="6643019" y="3371747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Camera/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85abc7660d_3_12"/>
          <p:cNvSpPr/>
          <p:nvPr/>
        </p:nvSpPr>
        <p:spPr>
          <a:xfrm>
            <a:off x="6643019" y="4069376"/>
            <a:ext cx="805800" cy="405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SAM2+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rPr b="0" i="0" lang="en-US" sz="8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OpenCV</a:t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85abc7660d_3_12"/>
          <p:cNvSpPr/>
          <p:nvPr/>
        </p:nvSpPr>
        <p:spPr>
          <a:xfrm>
            <a:off x="6986889" y="3814340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85abc7660d_3_12"/>
          <p:cNvSpPr/>
          <p:nvPr/>
        </p:nvSpPr>
        <p:spPr>
          <a:xfrm rot="-5400000">
            <a:off x="7544369" y="4162178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5" name="Google Shape;105;g385abc7660d_3_12"/>
          <p:cNvGraphicFramePr/>
          <p:nvPr/>
        </p:nvGraphicFramePr>
        <p:xfrm>
          <a:off x="358100" y="223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{7A7B5BE5-CD00-4F67-8757-674DA4D171A4}</a:tableStyleId>
              </a:tblPr>
              <a:tblGrid>
                <a:gridCol w="1373325"/>
                <a:gridCol w="1894100"/>
                <a:gridCol w="2726325"/>
              </a:tblGrid>
              <a:tr h="36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Metric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Performance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Justification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STT Accuracy ≥ 95%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Ensures high transcription fidelity for user speech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Whisper Base model achieves ≥95% accuracy under standard acoustic conditions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Translation Accuracy ≥ 90%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Maintains semantic integrity across multilingual inputs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Supported by integrated language detection and neural translation models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TTS Speech Clarity ≥ 4.0 MOS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Guarantees natural and intelligible voice output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MOS ≥4.0 corresponds to near-human perceptual quality in speech synthesis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Response Latency ≤ 1.0 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Provides real-time conversational interaction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Matches end-to-end target for human-like responsiveness in lab settings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abc7660d_3_8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Voice and Image Interface – Kevin Lee</a:t>
            </a:r>
            <a:endParaRPr/>
          </a:p>
        </p:txBody>
      </p:sp>
      <p:pic>
        <p:nvPicPr>
          <p:cNvPr id="111" name="Google Shape;111;g385abc7660d_3_89" title="Screenshot 2025-10-08 at 10.26.3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5275"/>
            <a:ext cx="4030947" cy="14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85abc7660d_3_89" title="Screenshot 2025-10-08 at 10.34.09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470011"/>
            <a:ext cx="4030950" cy="166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85abc7660d_3_89" title="Screenshot 2025-10-08 at 10.34.43 A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5192875"/>
            <a:ext cx="3837991" cy="158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85abc7660d_3_89"/>
          <p:cNvSpPr txBox="1"/>
          <p:nvPr/>
        </p:nvSpPr>
        <p:spPr>
          <a:xfrm>
            <a:off x="4372425" y="2080000"/>
            <a:ext cx="4314300" cy="14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1. Whisper model size comparison showing differences in capacity and accuracy—Tiny/Base models are suitable for standard STT, while the Medium model is recommended for automatic translation tasks.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85abc7660d_3_89"/>
          <p:cNvSpPr txBox="1"/>
          <p:nvPr/>
        </p:nvSpPr>
        <p:spPr>
          <a:xfrm>
            <a:off x="4372425" y="37102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2. Speech-to-Text (STT) workflow illustrating real-time audio capture, transcription, and text output using the Whisper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85abc7660d_3_89"/>
          <p:cNvSpPr txBox="1"/>
          <p:nvPr/>
        </p:nvSpPr>
        <p:spPr>
          <a:xfrm>
            <a:off x="4183350" y="535407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3. Inappropriate language detection flow demonstrating how censored input is filtered and excluded from AI and TTS processing.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5a7c2cde4_0_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22" name="Google Shape;122;g385a7c2cde4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g385a7c2cde4_0_7"/>
          <p:cNvSpPr txBox="1"/>
          <p:nvPr>
            <p:ph idx="1" type="body"/>
          </p:nvPr>
        </p:nvSpPr>
        <p:spPr>
          <a:xfrm>
            <a:off x="260125" y="1709850"/>
            <a:ext cx="49623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Goal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Build the Large Language &amp; Computer Vision Models the robot will operate under.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Tools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Git &amp; VScode for code creation.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Python main language utilized.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LightRag &amp; Ollama to run local LLM with Retrieval Augmented Generation (RAG).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PyTorch, cv2, &amp; segment_anything used for Computer Vision Model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Plan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LLM being designed based on Metas Ollama project &amp; LightRAG Arxiv paper. 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Computer Vision model based on Metas Segment Anything Model (SAM).</a:t>
            </a:r>
            <a:endParaRPr sz="1500"/>
          </a:p>
        </p:txBody>
      </p:sp>
      <p:pic>
        <p:nvPicPr>
          <p:cNvPr id="124" name="Google Shape;124;g385a7c2cde4_0_7" title="Untitled Diagram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0325" y="2098027"/>
            <a:ext cx="253365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5a7c2cde4_0_1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30" name="Google Shape;130;g385a7c2cde4_0_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g385a7c2cde4_0_14"/>
          <p:cNvSpPr txBox="1"/>
          <p:nvPr>
            <p:ph idx="1" type="body"/>
          </p:nvPr>
        </p:nvSpPr>
        <p:spPr>
          <a:xfrm>
            <a:off x="270000" y="1660750"/>
            <a:ext cx="4164000" cy="4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Objective</a:t>
            </a:r>
            <a:r>
              <a:rPr lang="en-US" sz="1500"/>
              <a:t>: 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Take in text and cleaned images &amp; output reference documents, LLM generated answers, and actions.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Inputs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Text from voice &amp; imaging interface.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Images.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Outputs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Text for display &amp; Text-to-Speech.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Relevant documents for Sourcing.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Commands for movement.</a:t>
            </a:r>
            <a:endParaRPr sz="1500"/>
          </a:p>
        </p:txBody>
      </p:sp>
      <p:pic>
        <p:nvPicPr>
          <p:cNvPr id="132" name="Google Shape;132;g385a7c2cde4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7528" y="4071425"/>
            <a:ext cx="2950625" cy="223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85a7c2cde4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900" y="2010298"/>
            <a:ext cx="3945876" cy="177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5abc7660d_0_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39" name="Google Shape;139;g385abc7660d_0_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g385abc7660d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91775"/>
            <a:ext cx="4804551" cy="20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85abc7660d_0_6"/>
          <p:cNvSpPr txBox="1"/>
          <p:nvPr/>
        </p:nvSpPr>
        <p:spPr>
          <a:xfrm>
            <a:off x="1044475" y="1852875"/>
            <a:ext cx="768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current LLM-RAG execution.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“Please state the goals of Lab 1 in ECEN 214”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85abc7660d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7345" y="4660920"/>
            <a:ext cx="5238924" cy="174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85abc7660d_0_6"/>
          <p:cNvSpPr txBox="1"/>
          <p:nvPr/>
        </p:nvSpPr>
        <p:spPr>
          <a:xfrm>
            <a:off x="457200" y="4468650"/>
            <a:ext cx="314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1 Page 1 (identified as page 0 in NaiveRAG)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85abc7660d_0_6"/>
          <p:cNvSpPr txBox="1"/>
          <p:nvPr/>
        </p:nvSpPr>
        <p:spPr>
          <a:xfrm>
            <a:off x="6182275" y="4373688"/>
            <a:ext cx="25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from LLM utilizing NaiveRAG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a7c2cde4_0_2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50" name="Google Shape;150;g385a7c2cde4_0_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g385a7c2cde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38" y="2008251"/>
            <a:ext cx="7619717" cy="41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85a7c2cde4_0_23"/>
          <p:cNvSpPr txBox="1"/>
          <p:nvPr/>
        </p:nvSpPr>
        <p:spPr>
          <a:xfrm>
            <a:off x="762150" y="6044350"/>
            <a:ext cx="818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Guo, Z., Xia, L., Yu, Y., Ao, T., &amp; Huang, C. (2025). </a:t>
            </a: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LightRAG: Simple and Fast Retrieval-Augmented Generation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arXiv.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https://doi.org/10.48550/arXiv.2410.05779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5"/>
          <p:cNvSpPr txBox="1"/>
          <p:nvPr>
            <p:ph idx="1" type="body"/>
          </p:nvPr>
        </p:nvSpPr>
        <p:spPr>
          <a:xfrm>
            <a:off x="374625" y="2038450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rPr b="1" lang="en-US" sz="1400"/>
              <a:t>What the subsystem does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Uses 2S2P INR18650-P26A Li-ion battery pack with buck converters to adjust voltage and amperage.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Handles power regulation, surge protection, and kill switch safety.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Supplies stable 5V @ 4A to Jetson Orin, 3.3V @ 1A to ESP-32, and 7.2 V @ 1A per Servo.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Provides battery %, runtime, and logs to the UI (tablet + web).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Design and implement in Altium as a custom PCB integrating charger, protection, and buck converter stages.</a:t>
            </a:r>
            <a:br>
              <a:rPr lang="en-US" sz="1400"/>
            </a:b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t/>
            </a:r>
            <a:endParaRPr sz="1400"/>
          </a:p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4705775" y="2353525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br>
              <a:rPr b="1" lang="en-US" sz="1500"/>
            </a:br>
            <a:endParaRPr sz="2200"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13134" l="6214" r="21094" t="0"/>
          <a:stretch/>
        </p:blipFill>
        <p:spPr>
          <a:xfrm>
            <a:off x="5176075" y="1940375"/>
            <a:ext cx="3353900" cy="44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5a839c5cc_0_5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167" name="Google Shape;167;g385a839c5cc_0_5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g385a839c5cc_0_53"/>
          <p:cNvSpPr txBox="1"/>
          <p:nvPr>
            <p:ph idx="1" type="body"/>
          </p:nvPr>
        </p:nvSpPr>
        <p:spPr>
          <a:xfrm>
            <a:off x="2822550" y="1852875"/>
            <a:ext cx="3498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rPr lang="en-US" sz="2300"/>
              <a:t>TI - WEBENCH (DC/DC)</a:t>
            </a:r>
            <a:endParaRPr sz="3400"/>
          </a:p>
        </p:txBody>
      </p:sp>
      <p:sp>
        <p:nvSpPr>
          <p:cNvPr id="169" name="Google Shape;169;g385a839c5cc_0_53"/>
          <p:cNvSpPr txBox="1"/>
          <p:nvPr>
            <p:ph idx="1" type="body"/>
          </p:nvPr>
        </p:nvSpPr>
        <p:spPr>
          <a:xfrm>
            <a:off x="4705775" y="4006050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br>
              <a:rPr b="1" lang="en-US" sz="1500"/>
            </a:br>
            <a:endParaRPr sz="2200"/>
          </a:p>
        </p:txBody>
      </p:sp>
      <p:pic>
        <p:nvPicPr>
          <p:cNvPr id="170" name="Google Shape;170;g385a839c5cc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2200" y="2114550"/>
            <a:ext cx="1099450" cy="460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85a839c5cc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3575" y="2466075"/>
            <a:ext cx="59436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85a839c5cc_0_53"/>
          <p:cNvSpPr txBox="1"/>
          <p:nvPr/>
        </p:nvSpPr>
        <p:spPr>
          <a:xfrm>
            <a:off x="1461850" y="270442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Jetson: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85a839c5cc_0_53"/>
          <p:cNvSpPr txBox="1"/>
          <p:nvPr/>
        </p:nvSpPr>
        <p:spPr>
          <a:xfrm>
            <a:off x="7020450" y="225427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Motors: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85a839c5cc_0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3575" y="5060950"/>
            <a:ext cx="5943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85a839c5cc_0_53"/>
          <p:cNvSpPr txBox="1"/>
          <p:nvPr/>
        </p:nvSpPr>
        <p:spPr>
          <a:xfrm>
            <a:off x="1461850" y="4695850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ESP-32: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5abc7660d_2_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181" name="Google Shape;181;g385abc7660d_2_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385abc7660d_2_15"/>
          <p:cNvSpPr txBox="1"/>
          <p:nvPr>
            <p:ph idx="1" type="body"/>
          </p:nvPr>
        </p:nvSpPr>
        <p:spPr>
          <a:xfrm>
            <a:off x="2822550" y="1852875"/>
            <a:ext cx="3498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rPr lang="en-US" sz="2300"/>
              <a:t>TI - WEBENCH (DC/DC)</a:t>
            </a:r>
            <a:endParaRPr sz="3400"/>
          </a:p>
        </p:txBody>
      </p:sp>
      <p:sp>
        <p:nvSpPr>
          <p:cNvPr id="183" name="Google Shape;183;g385abc7660d_2_15"/>
          <p:cNvSpPr txBox="1"/>
          <p:nvPr>
            <p:ph idx="1" type="body"/>
          </p:nvPr>
        </p:nvSpPr>
        <p:spPr>
          <a:xfrm>
            <a:off x="4705775" y="3861475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br>
              <a:rPr b="1" lang="en-US" sz="1500"/>
            </a:br>
            <a:endParaRPr sz="2200"/>
          </a:p>
        </p:txBody>
      </p:sp>
      <p:sp>
        <p:nvSpPr>
          <p:cNvPr id="184" name="Google Shape;184;g385abc7660d_2_15"/>
          <p:cNvSpPr txBox="1"/>
          <p:nvPr/>
        </p:nvSpPr>
        <p:spPr>
          <a:xfrm>
            <a:off x="0" y="210097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Jetson: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85abc7660d_2_15"/>
          <p:cNvSpPr txBox="1"/>
          <p:nvPr/>
        </p:nvSpPr>
        <p:spPr>
          <a:xfrm>
            <a:off x="0" y="455162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ESP-32: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85abc7660d_2_15"/>
          <p:cNvPicPr preferRelativeResize="0"/>
          <p:nvPr/>
        </p:nvPicPr>
        <p:blipFill rotWithShape="1">
          <a:blip r:embed="rId3">
            <a:alphaModFix/>
          </a:blip>
          <a:srcRect b="0" l="3252" r="2202" t="13141"/>
          <a:stretch/>
        </p:blipFill>
        <p:spPr>
          <a:xfrm>
            <a:off x="649319" y="2465438"/>
            <a:ext cx="2468812" cy="20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85abc7660d_2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6500" y="2465450"/>
            <a:ext cx="2536283" cy="21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85abc7660d_2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4275" y="2465450"/>
            <a:ext cx="2621466" cy="20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85abc7660d_2_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3862" y="4659544"/>
            <a:ext cx="2536276" cy="210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85abc7660d_2_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437" y="4659543"/>
            <a:ext cx="2298675" cy="1913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85abc7660d_2_15"/>
          <p:cNvPicPr preferRelativeResize="0"/>
          <p:nvPr/>
        </p:nvPicPr>
        <p:blipFill rotWithShape="1">
          <a:blip r:embed="rId8">
            <a:alphaModFix/>
          </a:blip>
          <a:srcRect b="0" l="0" r="8567" t="0"/>
          <a:stretch/>
        </p:blipFill>
        <p:spPr>
          <a:xfrm>
            <a:off x="6025875" y="4610800"/>
            <a:ext cx="2468800" cy="20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5abc7660d_2_4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197" name="Google Shape;197;g385abc7660d_2_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g385abc7660d_2_42"/>
          <p:cNvSpPr txBox="1"/>
          <p:nvPr>
            <p:ph idx="1" type="body"/>
          </p:nvPr>
        </p:nvSpPr>
        <p:spPr>
          <a:xfrm>
            <a:off x="2556450" y="1852875"/>
            <a:ext cx="4031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rPr lang="en-US" sz="2300"/>
              <a:t>TI WEBENCH Power System </a:t>
            </a:r>
            <a:endParaRPr sz="23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rPr lang="en-US" sz="2300"/>
              <a:t>(AC/DC Front End)</a:t>
            </a:r>
            <a:endParaRPr sz="2300"/>
          </a:p>
        </p:txBody>
      </p:sp>
      <p:sp>
        <p:nvSpPr>
          <p:cNvPr id="199" name="Google Shape;199;g385abc7660d_2_42"/>
          <p:cNvSpPr txBox="1"/>
          <p:nvPr>
            <p:ph idx="1" type="body"/>
          </p:nvPr>
        </p:nvSpPr>
        <p:spPr>
          <a:xfrm>
            <a:off x="4705775" y="4006050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br>
              <a:rPr b="1" lang="en-US" sz="1500"/>
            </a:br>
            <a:endParaRPr sz="2200"/>
          </a:p>
        </p:txBody>
      </p:sp>
      <p:sp>
        <p:nvSpPr>
          <p:cNvPr id="200" name="Google Shape;200;g385abc7660d_2_42"/>
          <p:cNvSpPr txBox="1"/>
          <p:nvPr/>
        </p:nvSpPr>
        <p:spPr>
          <a:xfrm>
            <a:off x="918475" y="2772450"/>
            <a:ext cx="489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85abc7660d_2_42"/>
          <p:cNvSpPr txBox="1"/>
          <p:nvPr/>
        </p:nvSpPr>
        <p:spPr>
          <a:xfrm>
            <a:off x="1037550" y="3163650"/>
            <a:ext cx="489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85abc7660d_2_42"/>
          <p:cNvSpPr txBox="1"/>
          <p:nvPr>
            <p:ph idx="1" type="body"/>
          </p:nvPr>
        </p:nvSpPr>
        <p:spPr>
          <a:xfrm>
            <a:off x="108525" y="3163650"/>
            <a:ext cx="38376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Simulated an isolated 120 VAC → 10 VDC @ 8 A power stage using TI WEBENCH.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Used for modeling and validation only, the actual prototype will be powered via UL-certified external adapter.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Supplies safe DC input to custom battery charger and buck converter network.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200"/>
              <a:buNone/>
            </a:pPr>
            <a:r>
              <a:t/>
            </a:r>
            <a:endParaRPr sz="1500"/>
          </a:p>
        </p:txBody>
      </p:sp>
      <p:pic>
        <p:nvPicPr>
          <p:cNvPr id="203" name="Google Shape;203;g385abc7660d_2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2675" y="3024950"/>
            <a:ext cx="4820350" cy="27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5a839c5cc_0_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209" name="Google Shape;209;g385a839c5cc_0_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10" name="Google Shape;210;g385a839c5cc_0_2"/>
          <p:cNvGraphicFramePr/>
          <p:nvPr/>
        </p:nvGraphicFramePr>
        <p:xfrm>
          <a:off x="57150" y="198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{EDAF2FF0-0EED-4BD6-BF21-6138C22EAFE5}</a:tableStyleId>
              </a:tblPr>
              <a:tblGrid>
                <a:gridCol w="1498225"/>
                <a:gridCol w="1144125"/>
                <a:gridCol w="2386850"/>
                <a:gridCol w="1352550"/>
                <a:gridCol w="26479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Component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Options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Pros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Final Choice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Battery Chemistry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Li-ion vs LiFePO₄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Higher energy density &amp; discharge current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Slightly less cycle life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INR18650-P26A (2S2P ≈ 7.2 V 5.2 Ah)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Regulator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Linear vs Buck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High efficiency, compact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EMI filtering needed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Buck Converter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UI Platform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Local vs Web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Web = multi-device access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Needs Wi-Fi setup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Hybrid Tablet + Web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Lang/Stack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C++ vs Python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Fast dev, Jetson support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Slightly slower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Python + Flask (Frontend JS UI)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Robotics – David Haybarger</a:t>
            </a:r>
            <a:endParaRPr/>
          </a:p>
        </p:txBody>
      </p:sp>
      <p:sp>
        <p:nvSpPr>
          <p:cNvPr id="216" name="Google Shape;216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7" name="Google Shape;217;p6" title="TARS Structur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800" y="2153550"/>
            <a:ext cx="4114000" cy="390212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 txBox="1"/>
          <p:nvPr/>
        </p:nvSpPr>
        <p:spPr>
          <a:xfrm>
            <a:off x="457200" y="2549413"/>
            <a:ext cx="4024500" cy="3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does the subsystem do?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physical actuation, movement, and probe deployment.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 &amp; Constraints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Stable and autonomous motion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interfaced control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bench compatible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Shell and Mechanical System Prototype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5786350" y="4732475"/>
            <a:ext cx="20397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SERVOS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6"/>
          <p:cNvCxnSpPr>
            <a:stCxn id="219" idx="0"/>
          </p:cNvCxnSpPr>
          <p:nvPr/>
        </p:nvCxnSpPr>
        <p:spPr>
          <a:xfrm flipH="1" rot="10800000">
            <a:off x="6806200" y="3409475"/>
            <a:ext cx="813900" cy="1323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6"/>
          <p:cNvCxnSpPr>
            <a:stCxn id="219" idx="0"/>
          </p:cNvCxnSpPr>
          <p:nvPr/>
        </p:nvCxnSpPr>
        <p:spPr>
          <a:xfrm rot="10800000">
            <a:off x="6771100" y="4015775"/>
            <a:ext cx="35100" cy="716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6"/>
          <p:cNvCxnSpPr>
            <a:stCxn id="219" idx="0"/>
          </p:cNvCxnSpPr>
          <p:nvPr/>
        </p:nvCxnSpPr>
        <p:spPr>
          <a:xfrm rot="10800000">
            <a:off x="5569300" y="2957375"/>
            <a:ext cx="1236900" cy="177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" name="Google Shape;223;p6"/>
          <p:cNvSpPr txBox="1"/>
          <p:nvPr/>
        </p:nvSpPr>
        <p:spPr>
          <a:xfrm>
            <a:off x="5318175" y="6132746"/>
            <a:ext cx="2775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 Designs Based on C. Diaz TARS CAD Files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937e65582_0_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Robotics – David Haybarger</a:t>
            </a:r>
            <a:endParaRPr/>
          </a:p>
        </p:txBody>
      </p:sp>
      <p:sp>
        <p:nvSpPr>
          <p:cNvPr id="229" name="Google Shape;229;g38937e65582_0_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g38937e65582_0_1" title="Servo Control System Mk.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4200" y="2505376"/>
            <a:ext cx="4132600" cy="319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8937e65582_0_1"/>
          <p:cNvSpPr txBox="1"/>
          <p:nvPr/>
        </p:nvSpPr>
        <p:spPr>
          <a:xfrm>
            <a:off x="457200" y="2505375"/>
            <a:ext cx="300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Autodesk Fusion 360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IDE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Printed Fabrication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LD-3015MG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PCA9685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937e65582_0_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Robotics – David Haybarger</a:t>
            </a:r>
            <a:endParaRPr/>
          </a:p>
        </p:txBody>
      </p:sp>
      <p:sp>
        <p:nvSpPr>
          <p:cNvPr id="237" name="Google Shape;237;g38937e65582_0_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38" name="Google Shape;238;g38937e65582_0_8"/>
          <p:cNvGraphicFramePr/>
          <p:nvPr/>
        </p:nvGraphicFramePr>
        <p:xfrm>
          <a:off x="604695" y="2258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{EDAF2FF0-0EED-4BD6-BF21-6138C22EAFE5}</a:tableStyleId>
              </a:tblPr>
              <a:tblGrid>
                <a:gridCol w="1498225"/>
                <a:gridCol w="1782925"/>
                <a:gridCol w="1748050"/>
                <a:gridCol w="1352550"/>
                <a:gridCol w="26479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Component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Options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Pros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Cons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Final Choice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Actuators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LD-3015MG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Bilda 2000-0025-002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MG996R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Highest torque to cost ratio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Weight and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Power Draw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LD-3015MG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Microcontroller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ESP32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Arduino Nano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RP Pico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Fast, Wireless Connectivity, Lots of timers/PWM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3.3V logic only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ESP32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>
            <p:ph type="title"/>
          </p:nvPr>
        </p:nvSpPr>
        <p:spPr>
          <a:xfrm>
            <a:off x="15875" y="871576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244" name="Google Shape;244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45" name="Google Shape;245;p8"/>
          <p:cNvGraphicFramePr/>
          <p:nvPr/>
        </p:nvGraphicFramePr>
        <p:xfrm>
          <a:off x="467275" y="1711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{7A7B5BE5-CD00-4F67-8757-674DA4D171A4}</a:tableStyleId>
              </a:tblPr>
              <a:tblGrid>
                <a:gridCol w="1289050"/>
                <a:gridCol w="1307175"/>
                <a:gridCol w="1270925"/>
                <a:gridCol w="1289050"/>
                <a:gridCol w="1289050"/>
                <a:gridCol w="12890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10/8 - today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10/22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11/5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11/19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11/26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Voice &amp; Image Interface (Kevin Lee)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Voice-Controlled Response Demonstration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Multimodal (Image + Speech) Query Processing Enabled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Audio System Integrated and Tested with Power System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Image-to-text/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Text-to-speech functionality Integrated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Multimodal Voice–Vision–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Control Operation Functional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Artificial Intelligence (Michael Fritzer)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Have base LLM (from API), RAG, &amp; CV model operational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Integrate Local LLM based off LightRAG.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ntegrate document-side image recognition into LLM.</a:t>
                      </a: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Build Database &amp; Website for remote upload of documents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Integrate action outputs. Validate full system functionality.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83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Hardware (Muhammed Faseeh)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Began 2S2P battery pack and PCB implementation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Finalize PCB + begin basic UI power display layout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Assemble PCB, test voltage output, link Jetson to UI battery data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 Verify ripple, thermal stability, and UI updates under load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Validate full power + UI integration with Jetson system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Robotics (David Haybarger)</a:t>
                      </a:r>
                      <a:endParaRPr b="1"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Control System Prototype Constructed/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Tested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Control System Integrated with Mechanical Design/Shell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Control System PCB Designed and Tested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BluePad32 Library Integration/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Testing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Functional Robotic System with Bluetooth Control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5b6ad905c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Autonomous University Robot Assistant</a:t>
            </a:r>
            <a:endParaRPr/>
          </a:p>
        </p:txBody>
      </p:sp>
      <p:sp>
        <p:nvSpPr>
          <p:cNvPr id="251" name="Google Shape;251;g385b6ad905c_1_0"/>
          <p:cNvSpPr txBox="1"/>
          <p:nvPr>
            <p:ph idx="1" type="body"/>
          </p:nvPr>
        </p:nvSpPr>
        <p:spPr>
          <a:xfrm>
            <a:off x="1663200" y="2267809"/>
            <a:ext cx="5817600" cy="14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9600">
                <a:solidFill>
                  <a:srgbClr val="491226"/>
                </a:solidFill>
                <a:latin typeface="Impact"/>
                <a:ea typeface="Impact"/>
                <a:cs typeface="Impact"/>
                <a:sym typeface="Impact"/>
              </a:rPr>
              <a:t>Thank You!</a:t>
            </a:r>
            <a:endParaRPr sz="9600">
              <a:solidFill>
                <a:srgbClr val="49122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2" name="Google Shape;252;g385b6ad905c_1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g385b6ad905c_1_0" title="image-asset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2050" y="3978397"/>
            <a:ext cx="2319898" cy="237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