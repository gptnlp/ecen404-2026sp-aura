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Helvetica Neue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THED4NS1Rx3JFnsqDactN3L79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125A8E-3874-4AC6-B67F-9ADBEE707471}">
  <a:tblStyle styleId="{93125A8E-3874-4AC6-B67F-9ADBEE7074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9F287B7-0032-4161-8EEF-C67D037E0D0B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6DDAEB8-9CF0-4410-BCB4-24AB30C6B67F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regular.fntdata"/><Relationship Id="rId25" Type="http://schemas.openxmlformats.org/officeDocument/2006/relationships/slide" Target="slides/slide20.xml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David will Read</a:t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Cloud server and database, Muhammed will do a quick glanceover</a:t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5abc7660d_3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85abc7660d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5abc7660d_3_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85abc7660d_3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5a7c2cde4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85a7c2cde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5a7c2cde4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85a7c2cde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5abc7660d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85abc7660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5a7c2cde4_0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85a7c2cde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5a839c5cc_0_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85a839c5c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5abc7660d_2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85abc7660d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5abc7660d_2_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85abc7660d_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5a839c5cc_0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85a839c5c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937e65582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8937e6558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937e65582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8937e6558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5b6ad905c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85b6ad905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27491" cy="412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1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" name="Google Shape;45;p15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31.png"/><Relationship Id="rId5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hyperlink" Target="https://doi.org/10.48550/arXiv.2410.05779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ECE</a:t>
            </a:r>
            <a:r>
              <a:rPr lang="en-US"/>
              <a:t>N</a:t>
            </a: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403</a:t>
            </a:r>
            <a:b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Midterm Presentation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093334" cy="52561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2139075" y="3886200"/>
            <a:ext cx="6319200" cy="26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lang="en-US"/>
              <a:t>GPT NLP Lab Assistant  </a:t>
            </a:r>
            <a:r>
              <a:rPr lang="en-US"/>
              <a:t>Team #: 35</a:t>
            </a: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/>
              <a:t>Muhammed Faseeh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Michael Fritzer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David Haybarger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Kevin Lee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TA: </a:t>
            </a:r>
            <a:r>
              <a:rPr lang="en-US">
                <a:solidFill>
                  <a:schemeClr val="lt1"/>
                </a:solidFill>
              </a:rPr>
              <a:t>Fahrettin Ay</a:t>
            </a:r>
            <a:r>
              <a:rPr lang="en-US"/>
              <a:t> </a:t>
            </a:r>
            <a:br>
              <a:rPr lang="en-US"/>
            </a:br>
            <a:endParaRPr/>
          </a:p>
        </p:txBody>
      </p:sp>
      <p:sp>
        <p:nvSpPr>
          <p:cNvPr id="58" name="Google Shape;58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Summary</a:t>
            </a:r>
            <a:endParaRPr/>
          </a:p>
        </p:txBody>
      </p:sp>
      <p:sp>
        <p:nvSpPr>
          <p:cNvPr id="64" name="Google Shape;64;p2"/>
          <p:cNvSpPr txBox="1"/>
          <p:nvPr>
            <p:ph idx="1" type="body"/>
          </p:nvPr>
        </p:nvSpPr>
        <p:spPr>
          <a:xfrm>
            <a:off x="457200" y="1852933"/>
            <a:ext cx="5359400" cy="4018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indent="-355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Students &amp; researchers often face challenges completing tasks due to a lack of quality assistance caused by Assistants &amp; Professors unavailability.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Our Solution:</a:t>
            </a:r>
            <a:endParaRPr/>
          </a:p>
          <a:p>
            <a:pPr indent="-355600" lvl="0" marL="4572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Build a lab assistant that is capable of subsidizing most functionalities that a TA or professor would generally provide combined with the advantages of having an LLM on standby.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3125" y="4376289"/>
            <a:ext cx="2653676" cy="1980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" title="3e405d6f31a54c349bc58b7340d3af70.jpeg"/>
          <p:cNvPicPr preferRelativeResize="0"/>
          <p:nvPr/>
        </p:nvPicPr>
        <p:blipFill rotWithShape="1">
          <a:blip r:embed="rId4">
            <a:alphaModFix/>
          </a:blip>
          <a:srcRect b="0" l="32474" r="36413" t="0"/>
          <a:stretch/>
        </p:blipFill>
        <p:spPr>
          <a:xfrm>
            <a:off x="6553200" y="282550"/>
            <a:ext cx="2133599" cy="38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/>
          <p:nvPr>
            <p:ph type="title"/>
          </p:nvPr>
        </p:nvSpPr>
        <p:spPr>
          <a:xfrm>
            <a:off x="457200" y="823036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i="0" lang="en-US" u="none" cap="none" strike="noStrike">
                <a:solidFill>
                  <a:schemeClr val="dk1"/>
                </a:solidFill>
              </a:rPr>
              <a:t>System</a:t>
            </a:r>
            <a:r>
              <a:rPr lang="en-US"/>
              <a:t> Overview</a:t>
            </a:r>
            <a:endParaRPr/>
          </a:p>
        </p:txBody>
      </p:sp>
      <p:sp>
        <p:nvSpPr>
          <p:cNvPr id="73" name="Google Shape;73;p3"/>
          <p:cNvSpPr txBox="1"/>
          <p:nvPr>
            <p:ph idx="12" type="sldNum"/>
          </p:nvPr>
        </p:nvSpPr>
        <p:spPr>
          <a:xfrm>
            <a:off x="8450550" y="6356350"/>
            <a:ext cx="23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726175"/>
            <a:ext cx="7800198" cy="46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Voice and Image Interface – Kevin Lee</a:t>
            </a:r>
            <a:endParaRPr/>
          </a:p>
        </p:txBody>
      </p:sp>
      <p:sp>
        <p:nvSpPr>
          <p:cNvPr id="80" name="Google Shape;80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7"/>
          <p:cNvSpPr txBox="1"/>
          <p:nvPr>
            <p:ph idx="1" type="body"/>
          </p:nvPr>
        </p:nvSpPr>
        <p:spPr>
          <a:xfrm>
            <a:off x="495150" y="1895175"/>
            <a:ext cx="8018400" cy="47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Goal</a:t>
            </a:r>
            <a:r>
              <a:rPr lang="en-US" sz="1500"/>
              <a:t>: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Enable speech-driven interaction with real-time STT → AI → TTS response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Combine speech and image understanding (multimodal AI) for contextual question answering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Design Tools</a:t>
            </a:r>
            <a:r>
              <a:rPr lang="en-US" sz="1500"/>
              <a:t>:</a:t>
            </a:r>
            <a:endParaRPr sz="1500"/>
          </a:p>
          <a:p>
            <a:pPr indent="-952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STT: OpenAI Whisper</a:t>
            </a:r>
            <a:endParaRPr sz="1500"/>
          </a:p>
          <a:p>
            <a:pPr indent="-952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TTS: Coqui TTS / PyTorch Vocoder</a:t>
            </a:r>
            <a:endParaRPr sz="1500"/>
          </a:p>
          <a:p>
            <a:pPr indent="-952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Vision: Segment Anything Model (SAM 2) + OpenCV</a:t>
            </a:r>
            <a:endParaRPr sz="15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Design Plan</a:t>
            </a:r>
            <a:r>
              <a:rPr lang="en-US" sz="1500"/>
              <a:t>:</a:t>
            </a:r>
            <a:endParaRPr sz="1500"/>
          </a:p>
          <a:p>
            <a:pPr indent="-952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Speech Input: Analog audio → USB ADC → Whisper STT</a:t>
            </a:r>
            <a:endParaRPr sz="1500"/>
          </a:p>
          <a:p>
            <a:pPr indent="-952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Censorship &amp; Translation: Lexical filter → Language detection → Translation to English</a:t>
            </a:r>
            <a:endParaRPr sz="1500"/>
          </a:p>
          <a:p>
            <a:pPr indent="-952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AI Processing: Text → Local LLM + RAG → Contextual Answer Generation</a:t>
            </a:r>
            <a:endParaRPr sz="1500"/>
          </a:p>
          <a:p>
            <a:pPr indent="-952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Output: TTS → DAC → Speaker / Display UI Response</a:t>
            </a:r>
            <a:endParaRPr sz="1500"/>
          </a:p>
          <a:p>
            <a:pPr indent="-952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Optional Vision: Camera image → SAM/OpenCV → Fused with STT for multimodal query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5abc7660d_3_1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Voice and Image Interface – Kevin Lee</a:t>
            </a:r>
            <a:endParaRPr/>
          </a:p>
        </p:txBody>
      </p:sp>
      <p:sp>
        <p:nvSpPr>
          <p:cNvPr id="87" name="Google Shape;87;g385abc7660d_3_12"/>
          <p:cNvSpPr txBox="1"/>
          <p:nvPr>
            <p:ph idx="12" type="sldNum"/>
          </p:nvPr>
        </p:nvSpPr>
        <p:spPr>
          <a:xfrm>
            <a:off x="7890919" y="629922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g385abc7660d_3_12"/>
          <p:cNvSpPr/>
          <p:nvPr/>
        </p:nvSpPr>
        <p:spPr>
          <a:xfrm>
            <a:off x="7744675" y="1977650"/>
            <a:ext cx="805800" cy="405300"/>
          </a:xfrm>
          <a:prstGeom prst="rect">
            <a:avLst/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3"/>
              <a:t>Microphone</a:t>
            </a:r>
            <a:endParaRPr sz="883"/>
          </a:p>
        </p:txBody>
      </p:sp>
      <p:sp>
        <p:nvSpPr>
          <p:cNvPr id="89" name="Google Shape;89;g385abc7660d_3_12"/>
          <p:cNvSpPr/>
          <p:nvPr/>
        </p:nvSpPr>
        <p:spPr>
          <a:xfrm>
            <a:off x="7744675" y="2674448"/>
            <a:ext cx="805800" cy="405300"/>
          </a:xfrm>
          <a:prstGeom prst="rect">
            <a:avLst/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3"/>
              <a:t>ADC</a:t>
            </a:r>
            <a:endParaRPr sz="883"/>
          </a:p>
        </p:txBody>
      </p:sp>
      <p:sp>
        <p:nvSpPr>
          <p:cNvPr id="90" name="Google Shape;90;g385abc7660d_3_12"/>
          <p:cNvSpPr/>
          <p:nvPr/>
        </p:nvSpPr>
        <p:spPr>
          <a:xfrm>
            <a:off x="8088545" y="2419412"/>
            <a:ext cx="118500" cy="21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3"/>
          </a:p>
        </p:txBody>
      </p:sp>
      <p:sp>
        <p:nvSpPr>
          <p:cNvPr id="91" name="Google Shape;91;g385abc7660d_3_12"/>
          <p:cNvSpPr/>
          <p:nvPr/>
        </p:nvSpPr>
        <p:spPr>
          <a:xfrm>
            <a:off x="7744675" y="3372077"/>
            <a:ext cx="805800" cy="405300"/>
          </a:xfrm>
          <a:prstGeom prst="rect">
            <a:avLst/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3"/>
              <a:t>Whisper STT</a:t>
            </a:r>
            <a:endParaRPr sz="883"/>
          </a:p>
        </p:txBody>
      </p:sp>
      <p:sp>
        <p:nvSpPr>
          <p:cNvPr id="92" name="Google Shape;92;g385abc7660d_3_12"/>
          <p:cNvSpPr/>
          <p:nvPr/>
        </p:nvSpPr>
        <p:spPr>
          <a:xfrm>
            <a:off x="8088545" y="3117040"/>
            <a:ext cx="118500" cy="21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3"/>
          </a:p>
        </p:txBody>
      </p:sp>
      <p:sp>
        <p:nvSpPr>
          <p:cNvPr id="93" name="Google Shape;93;g385abc7660d_3_12"/>
          <p:cNvSpPr/>
          <p:nvPr/>
        </p:nvSpPr>
        <p:spPr>
          <a:xfrm>
            <a:off x="7744675" y="4068976"/>
            <a:ext cx="805800" cy="405300"/>
          </a:xfrm>
          <a:prstGeom prst="rect">
            <a:avLst/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3"/>
              <a:t>Censorship/</a:t>
            </a:r>
            <a:endParaRPr sz="883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3"/>
              <a:t>Translation</a:t>
            </a:r>
            <a:endParaRPr sz="883"/>
          </a:p>
        </p:txBody>
      </p:sp>
      <p:sp>
        <p:nvSpPr>
          <p:cNvPr id="94" name="Google Shape;94;g385abc7660d_3_12"/>
          <p:cNvSpPr/>
          <p:nvPr/>
        </p:nvSpPr>
        <p:spPr>
          <a:xfrm>
            <a:off x="8088545" y="3813939"/>
            <a:ext cx="118500" cy="21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3"/>
          </a:p>
        </p:txBody>
      </p:sp>
      <p:sp>
        <p:nvSpPr>
          <p:cNvPr id="95" name="Google Shape;95;g385abc7660d_3_12"/>
          <p:cNvSpPr/>
          <p:nvPr/>
        </p:nvSpPr>
        <p:spPr>
          <a:xfrm>
            <a:off x="7744675" y="4766605"/>
            <a:ext cx="805800" cy="405300"/>
          </a:xfrm>
          <a:prstGeom prst="rect">
            <a:avLst/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3"/>
              <a:t>LLM+RAG</a:t>
            </a:r>
            <a:endParaRPr sz="883"/>
          </a:p>
        </p:txBody>
      </p:sp>
      <p:sp>
        <p:nvSpPr>
          <p:cNvPr id="96" name="Google Shape;96;g385abc7660d_3_12"/>
          <p:cNvSpPr/>
          <p:nvPr/>
        </p:nvSpPr>
        <p:spPr>
          <a:xfrm>
            <a:off x="8088545" y="4511568"/>
            <a:ext cx="118500" cy="21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3"/>
          </a:p>
        </p:txBody>
      </p:sp>
      <p:sp>
        <p:nvSpPr>
          <p:cNvPr id="97" name="Google Shape;97;g385abc7660d_3_12"/>
          <p:cNvSpPr/>
          <p:nvPr/>
        </p:nvSpPr>
        <p:spPr>
          <a:xfrm>
            <a:off x="7744675" y="5470310"/>
            <a:ext cx="805800" cy="405300"/>
          </a:xfrm>
          <a:prstGeom prst="rect">
            <a:avLst/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3"/>
              <a:t>TTS</a:t>
            </a:r>
            <a:endParaRPr sz="883"/>
          </a:p>
        </p:txBody>
      </p:sp>
      <p:sp>
        <p:nvSpPr>
          <p:cNvPr id="98" name="Google Shape;98;g385abc7660d_3_12"/>
          <p:cNvSpPr/>
          <p:nvPr/>
        </p:nvSpPr>
        <p:spPr>
          <a:xfrm>
            <a:off x="8088545" y="5215273"/>
            <a:ext cx="118500" cy="21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3"/>
          </a:p>
        </p:txBody>
      </p:sp>
      <p:sp>
        <p:nvSpPr>
          <p:cNvPr id="99" name="Google Shape;99;g385abc7660d_3_12"/>
          <p:cNvSpPr/>
          <p:nvPr/>
        </p:nvSpPr>
        <p:spPr>
          <a:xfrm>
            <a:off x="7744675" y="6167938"/>
            <a:ext cx="805800" cy="405300"/>
          </a:xfrm>
          <a:prstGeom prst="rect">
            <a:avLst/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3"/>
              <a:t>Speaker/</a:t>
            </a:r>
            <a:br>
              <a:rPr lang="en-US" sz="883"/>
            </a:br>
            <a:r>
              <a:rPr lang="en-US" sz="883"/>
              <a:t>Display</a:t>
            </a:r>
            <a:endParaRPr sz="883"/>
          </a:p>
        </p:txBody>
      </p:sp>
      <p:sp>
        <p:nvSpPr>
          <p:cNvPr id="100" name="Google Shape;100;g385abc7660d_3_12"/>
          <p:cNvSpPr/>
          <p:nvPr/>
        </p:nvSpPr>
        <p:spPr>
          <a:xfrm>
            <a:off x="8088545" y="5912902"/>
            <a:ext cx="118500" cy="21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3"/>
          </a:p>
        </p:txBody>
      </p:sp>
      <p:sp>
        <p:nvSpPr>
          <p:cNvPr id="101" name="Google Shape;101;g385abc7660d_3_12"/>
          <p:cNvSpPr/>
          <p:nvPr/>
        </p:nvSpPr>
        <p:spPr>
          <a:xfrm>
            <a:off x="6643019" y="3371747"/>
            <a:ext cx="805800" cy="405300"/>
          </a:xfrm>
          <a:prstGeom prst="rect">
            <a:avLst/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3"/>
              <a:t>Camera/</a:t>
            </a:r>
            <a:endParaRPr sz="883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3"/>
              <a:t>Image</a:t>
            </a:r>
            <a:endParaRPr sz="883"/>
          </a:p>
        </p:txBody>
      </p:sp>
      <p:sp>
        <p:nvSpPr>
          <p:cNvPr id="102" name="Google Shape;102;g385abc7660d_3_12"/>
          <p:cNvSpPr/>
          <p:nvPr/>
        </p:nvSpPr>
        <p:spPr>
          <a:xfrm>
            <a:off x="6643019" y="4069376"/>
            <a:ext cx="805800" cy="405300"/>
          </a:xfrm>
          <a:prstGeom prst="rect">
            <a:avLst/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3"/>
              <a:t>SAM2+</a:t>
            </a:r>
            <a:endParaRPr sz="883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3"/>
              <a:t>OpenCV</a:t>
            </a:r>
            <a:endParaRPr sz="883"/>
          </a:p>
        </p:txBody>
      </p:sp>
      <p:sp>
        <p:nvSpPr>
          <p:cNvPr id="103" name="Google Shape;103;g385abc7660d_3_12"/>
          <p:cNvSpPr/>
          <p:nvPr/>
        </p:nvSpPr>
        <p:spPr>
          <a:xfrm>
            <a:off x="6986889" y="3814340"/>
            <a:ext cx="118500" cy="21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3"/>
          </a:p>
        </p:txBody>
      </p:sp>
      <p:sp>
        <p:nvSpPr>
          <p:cNvPr id="104" name="Google Shape;104;g385abc7660d_3_12"/>
          <p:cNvSpPr/>
          <p:nvPr/>
        </p:nvSpPr>
        <p:spPr>
          <a:xfrm rot="-5400000">
            <a:off x="7544369" y="4162178"/>
            <a:ext cx="118500" cy="21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FE2F3"/>
          </a:solidFill>
          <a:ln cap="flat" cmpd="sng" w="54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00" lIns="52400" spcFirstLastPara="1" rIns="52400" wrap="square" tIns="5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83"/>
          </a:p>
        </p:txBody>
      </p:sp>
      <p:graphicFrame>
        <p:nvGraphicFramePr>
          <p:cNvPr id="105" name="Google Shape;105;g385abc7660d_3_12"/>
          <p:cNvGraphicFramePr/>
          <p:nvPr/>
        </p:nvGraphicFramePr>
        <p:xfrm>
          <a:off x="358100" y="2232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{93125A8E-3874-4AC6-B67F-9ADBEE707471}</a:tableStyleId>
              </a:tblPr>
              <a:tblGrid>
                <a:gridCol w="1373325"/>
                <a:gridCol w="1894100"/>
                <a:gridCol w="2726325"/>
              </a:tblGrid>
              <a:tr h="36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Metric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Performance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Justification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86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STT Accuracy ≥ 95%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Ensures high transcription fidelity for user speech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Whisper Base model achieves ≥95% accuracy under standard acoustic conditions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Translation Accuracy ≥ 90%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Maintains semantic integrity across multilingual inputs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Supported by integrated language detection and neural translation models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TTS Speech Clarity ≥ 4.0 MOS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Guarantees natural and intelligible voice output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MOS ≥4.0 corresponds to near-human perceptual quality in speech synthesis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5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Response Latency ≤ 1.0 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Provides real-time conversational interaction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Matches end-to-end target for human-like responsiveness in lab settings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5abc7660d_3_89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Voice and Image Interface – Kevin Lee</a:t>
            </a:r>
            <a:endParaRPr/>
          </a:p>
        </p:txBody>
      </p:sp>
      <p:pic>
        <p:nvPicPr>
          <p:cNvPr id="111" name="Google Shape;111;g385abc7660d_3_89" title="Screenshot 2025-10-08 at 10.26.3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275"/>
            <a:ext cx="4030947" cy="140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85abc7660d_3_89" title="Screenshot 2025-10-08 at 10.34.0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470011"/>
            <a:ext cx="4030950" cy="166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85abc7660d_3_89" title="Screenshot 2025-10-08 at 10.34.43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5192875"/>
            <a:ext cx="3837991" cy="158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85abc7660d_3_89"/>
          <p:cNvSpPr txBox="1"/>
          <p:nvPr/>
        </p:nvSpPr>
        <p:spPr>
          <a:xfrm>
            <a:off x="4372425" y="2080000"/>
            <a:ext cx="4314300" cy="14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Figure 1. Whisper model size comparison showing differences in capacity and accuracy—Tiny/Base models are suitable for standard STT, while the Medium model is recommended for automatic translation tasks.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5" name="Google Shape;115;g385abc7660d_3_89"/>
          <p:cNvSpPr txBox="1"/>
          <p:nvPr/>
        </p:nvSpPr>
        <p:spPr>
          <a:xfrm>
            <a:off x="4372425" y="371022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Figure 2. Speech-to-Text (STT) workflow illustrating real-time audio capture, transcription, and text output using the Whisper model.</a:t>
            </a:r>
            <a:endParaRPr/>
          </a:p>
        </p:txBody>
      </p:sp>
      <p:sp>
        <p:nvSpPr>
          <p:cNvPr id="116" name="Google Shape;116;g385abc7660d_3_89"/>
          <p:cNvSpPr txBox="1"/>
          <p:nvPr/>
        </p:nvSpPr>
        <p:spPr>
          <a:xfrm>
            <a:off x="4183350" y="5354075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Figure 3. Inappropriate language detection flow demonstrating how censored input is filtered and excluded from AI and TTS processing.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5a7c2cde4_0_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Artificial Intelligence – Michael Fritzer</a:t>
            </a:r>
            <a:endParaRPr/>
          </a:p>
        </p:txBody>
      </p:sp>
      <p:sp>
        <p:nvSpPr>
          <p:cNvPr id="122" name="Google Shape;122;g385a7c2cde4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g385a7c2cde4_0_7"/>
          <p:cNvSpPr txBox="1"/>
          <p:nvPr>
            <p:ph idx="1" type="body"/>
          </p:nvPr>
        </p:nvSpPr>
        <p:spPr>
          <a:xfrm>
            <a:off x="260125" y="1709850"/>
            <a:ext cx="4962300" cy="47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Goal</a:t>
            </a:r>
            <a:r>
              <a:rPr lang="en-US" sz="1500"/>
              <a:t>: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Build the Large Language &amp; Computer Vision Models the robot will operate under.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Design Tools</a:t>
            </a:r>
            <a:r>
              <a:rPr lang="en-US" sz="1500"/>
              <a:t>: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Git &amp; VScode for code creation.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Python main language utilized.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LightRag &amp; Ollama to run local LLM with Retrieval Augmented Generation (RAG).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PyTorch, cv2, &amp; segment_anything used for Computer Vision Model</a:t>
            </a:r>
            <a:endParaRPr sz="15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Design Plan</a:t>
            </a:r>
            <a:r>
              <a:rPr lang="en-US" sz="1500"/>
              <a:t>: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LLM being designed based on Metas Ollama project &amp; LightRAG Arxiv paper. 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Computer Vision model based on Metas Segment Anything Model (SAM).</a:t>
            </a:r>
            <a:endParaRPr sz="1500"/>
          </a:p>
        </p:txBody>
      </p:sp>
      <p:pic>
        <p:nvPicPr>
          <p:cNvPr id="124" name="Google Shape;124;g385a7c2cde4_0_7" title="Untitled 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0325" y="2098027"/>
            <a:ext cx="2533650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5a7c2cde4_0_1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Artificial Intelligence – Michael Fritzer</a:t>
            </a:r>
            <a:endParaRPr/>
          </a:p>
        </p:txBody>
      </p:sp>
      <p:sp>
        <p:nvSpPr>
          <p:cNvPr id="130" name="Google Shape;130;g385a7c2cde4_0_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g385a7c2cde4_0_14"/>
          <p:cNvSpPr txBox="1"/>
          <p:nvPr>
            <p:ph idx="1" type="body"/>
          </p:nvPr>
        </p:nvSpPr>
        <p:spPr>
          <a:xfrm>
            <a:off x="270000" y="1660750"/>
            <a:ext cx="4164000" cy="48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Objective</a:t>
            </a:r>
            <a:r>
              <a:rPr lang="en-US" sz="1500"/>
              <a:t>: 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Take in text and cleaned images &amp; output reference documents, LLM generated answers, and actions.</a:t>
            </a:r>
            <a:endParaRPr sz="15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Inputs</a:t>
            </a:r>
            <a:r>
              <a:rPr lang="en-US" sz="1500"/>
              <a:t>: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Text from voice &amp; imaging interface.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Images.</a:t>
            </a:r>
            <a:endParaRPr sz="15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1" lang="en-US" sz="1500"/>
              <a:t>Outputs</a:t>
            </a:r>
            <a:r>
              <a:rPr lang="en-US" sz="1500"/>
              <a:t>:</a:t>
            </a:r>
            <a:endParaRPr sz="1500"/>
          </a:p>
          <a:p>
            <a:pPr indent="-95250" lvl="1" marL="742950" rtl="0" algn="l"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Text for display &amp; Text-to-Speech.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Relevant documents for Sourcing.</a:t>
            </a:r>
            <a:endParaRPr sz="1500"/>
          </a:p>
          <a:p>
            <a:pPr indent="-952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–"/>
            </a:pPr>
            <a:r>
              <a:rPr lang="en-US" sz="1500"/>
              <a:t>Commands for movement.</a:t>
            </a:r>
            <a:endParaRPr sz="1500"/>
          </a:p>
        </p:txBody>
      </p:sp>
      <p:pic>
        <p:nvPicPr>
          <p:cNvPr id="132" name="Google Shape;132;g385a7c2cde4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7528" y="4071425"/>
            <a:ext cx="2950625" cy="223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85a7c2cde4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9900" y="2010298"/>
            <a:ext cx="3945876" cy="1775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5abc7660d_0_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Artificial Intelligence – Michael Fritzer</a:t>
            </a:r>
            <a:endParaRPr/>
          </a:p>
        </p:txBody>
      </p:sp>
      <p:sp>
        <p:nvSpPr>
          <p:cNvPr id="139" name="Google Shape;139;g385abc7660d_0_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0" name="Google Shape;140;g385abc7660d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591775"/>
            <a:ext cx="4804551" cy="20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85abc7660d_0_6"/>
          <p:cNvSpPr txBox="1"/>
          <p:nvPr/>
        </p:nvSpPr>
        <p:spPr>
          <a:xfrm>
            <a:off x="1044475" y="1852875"/>
            <a:ext cx="7681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Example of current LLM-RAG execution.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“Please state the goals of Lab 1 in ECEN 214”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2" name="Google Shape;142;g385abc7660d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7345" y="4660920"/>
            <a:ext cx="5238924" cy="174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85abc7660d_0_6"/>
          <p:cNvSpPr txBox="1"/>
          <p:nvPr/>
        </p:nvSpPr>
        <p:spPr>
          <a:xfrm>
            <a:off x="457200" y="4468650"/>
            <a:ext cx="314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Lab 1 Page 1 (identified as page 0 in NaiveRAG)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44" name="Google Shape;144;g385abc7660d_0_6"/>
          <p:cNvSpPr txBox="1"/>
          <p:nvPr/>
        </p:nvSpPr>
        <p:spPr>
          <a:xfrm>
            <a:off x="6182275" y="4373688"/>
            <a:ext cx="254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Response from LLM utilizing NaiveRAG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5a7c2cde4_0_2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Artificial Intelligence – Michael Fritzer</a:t>
            </a:r>
            <a:endParaRPr/>
          </a:p>
        </p:txBody>
      </p:sp>
      <p:sp>
        <p:nvSpPr>
          <p:cNvPr id="150" name="Google Shape;150;g385a7c2cde4_0_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1" name="Google Shape;151;g385a7c2cde4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138" y="2008251"/>
            <a:ext cx="7619717" cy="419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85a7c2cde4_0_23"/>
          <p:cNvSpPr txBox="1"/>
          <p:nvPr/>
        </p:nvSpPr>
        <p:spPr>
          <a:xfrm>
            <a:off x="762150" y="6044350"/>
            <a:ext cx="818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Guo, Z., Xia, L., Yu, Y., Ao, T., &amp; Huang, C. (2025). </a:t>
            </a:r>
            <a:r>
              <a:rPr i="1" lang="en-US" sz="1100">
                <a:solidFill>
                  <a:schemeClr val="dk1"/>
                </a:solidFill>
              </a:rPr>
              <a:t>LightRAG: Simple and Fast Retrieval-Augmented Generation</a:t>
            </a:r>
            <a:r>
              <a:rPr lang="en-US" sz="1100">
                <a:solidFill>
                  <a:schemeClr val="dk1"/>
                </a:solidFill>
              </a:rPr>
              <a:t>. arXiv. </a:t>
            </a:r>
            <a:r>
              <a:rPr lang="en-US" sz="1100" u="sng">
                <a:solidFill>
                  <a:schemeClr val="hlink"/>
                </a:solidFill>
                <a:hlinkClick r:id="rId4"/>
              </a:rPr>
              <a:t>https://doi.org/10.48550/arXiv.2410.05779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Hardware </a:t>
            </a:r>
            <a:r>
              <a:rPr lang="en-US"/>
              <a:t>– Muhammed Faseeh</a:t>
            </a:r>
            <a:endParaRPr/>
          </a:p>
        </p:txBody>
      </p:sp>
      <p:sp>
        <p:nvSpPr>
          <p:cNvPr id="158" name="Google Shape;158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5"/>
          <p:cNvSpPr txBox="1"/>
          <p:nvPr>
            <p:ph idx="1" type="body"/>
          </p:nvPr>
        </p:nvSpPr>
        <p:spPr>
          <a:xfrm>
            <a:off x="374625" y="2038450"/>
            <a:ext cx="42945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00"/>
              <a:t>What the subsystem does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Uses 2S2P INR18650-P26A Li-ion battery pack with buck converters to adjust voltage and amperage.</a:t>
            </a:r>
            <a:br>
              <a:rPr lang="en-US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Handles power regulation, surge protection, and kill switch safety.</a:t>
            </a:r>
            <a:br>
              <a:rPr lang="en-US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Supplies stable 5V @ 4A to Jetson Orin, 3.3V @ 1A to ESP-32, and 7.2 V @ 1A per Servo.</a:t>
            </a:r>
            <a:br>
              <a:rPr lang="en-US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Provides battery %, runtime, and logs to the UI (tablet + web).</a:t>
            </a:r>
            <a:br>
              <a:rPr lang="en-US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Design and implement in Altium as a custom PCB integrating charger, protection, and buck converter stages.</a:t>
            </a:r>
            <a:br>
              <a:rPr lang="en-US" sz="1400"/>
            </a:b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60" name="Google Shape;160;p5"/>
          <p:cNvSpPr txBox="1"/>
          <p:nvPr>
            <p:ph idx="1" type="body"/>
          </p:nvPr>
        </p:nvSpPr>
        <p:spPr>
          <a:xfrm>
            <a:off x="4705775" y="2353525"/>
            <a:ext cx="42945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b="1" lang="en-US" sz="1500"/>
            </a:br>
            <a:endParaRPr sz="2200"/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3">
            <a:alphaModFix/>
          </a:blip>
          <a:srcRect b="13134" l="6215" r="21094" t="0"/>
          <a:stretch/>
        </p:blipFill>
        <p:spPr>
          <a:xfrm>
            <a:off x="5176075" y="1940375"/>
            <a:ext cx="3353900" cy="44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5a839c5cc_0_5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Hardware – Muhammed Faseeh</a:t>
            </a:r>
            <a:endParaRPr/>
          </a:p>
        </p:txBody>
      </p:sp>
      <p:sp>
        <p:nvSpPr>
          <p:cNvPr id="167" name="Google Shape;167;g385a839c5cc_0_5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g385a839c5cc_0_53"/>
          <p:cNvSpPr txBox="1"/>
          <p:nvPr>
            <p:ph idx="1" type="body"/>
          </p:nvPr>
        </p:nvSpPr>
        <p:spPr>
          <a:xfrm>
            <a:off x="2822550" y="1852875"/>
            <a:ext cx="34989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300"/>
              <a:t>TI - WEBENCH (DC/DC)</a:t>
            </a:r>
            <a:endParaRPr sz="3400"/>
          </a:p>
        </p:txBody>
      </p:sp>
      <p:sp>
        <p:nvSpPr>
          <p:cNvPr id="169" name="Google Shape;169;g385a839c5cc_0_53"/>
          <p:cNvSpPr txBox="1"/>
          <p:nvPr>
            <p:ph idx="1" type="body"/>
          </p:nvPr>
        </p:nvSpPr>
        <p:spPr>
          <a:xfrm>
            <a:off x="4705775" y="4006050"/>
            <a:ext cx="42945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b="1" lang="en-US" sz="1500"/>
            </a:br>
            <a:endParaRPr sz="2200"/>
          </a:p>
        </p:txBody>
      </p:sp>
      <p:pic>
        <p:nvPicPr>
          <p:cNvPr id="170" name="Google Shape;170;g385a839c5cc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2200" y="2114550"/>
            <a:ext cx="1099450" cy="460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85a839c5cc_0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3575" y="2466075"/>
            <a:ext cx="59436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85a839c5cc_0_53"/>
          <p:cNvSpPr txBox="1"/>
          <p:nvPr/>
        </p:nvSpPr>
        <p:spPr>
          <a:xfrm>
            <a:off x="1461850" y="2704425"/>
            <a:ext cx="170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Jetson: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73" name="Google Shape;173;g385a839c5cc_0_53"/>
          <p:cNvSpPr txBox="1"/>
          <p:nvPr/>
        </p:nvSpPr>
        <p:spPr>
          <a:xfrm>
            <a:off x="7020450" y="2254275"/>
            <a:ext cx="170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Motors: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74" name="Google Shape;174;g385a839c5cc_0_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3575" y="5060950"/>
            <a:ext cx="59436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85a839c5cc_0_53"/>
          <p:cNvSpPr txBox="1"/>
          <p:nvPr/>
        </p:nvSpPr>
        <p:spPr>
          <a:xfrm>
            <a:off x="1461850" y="4695850"/>
            <a:ext cx="170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ESP-32</a:t>
            </a:r>
            <a:r>
              <a:rPr lang="en-US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5abc7660d_2_1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Hardware – Muhammed Faseeh</a:t>
            </a:r>
            <a:endParaRPr/>
          </a:p>
        </p:txBody>
      </p:sp>
      <p:sp>
        <p:nvSpPr>
          <p:cNvPr id="181" name="Google Shape;181;g385abc7660d_2_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g385abc7660d_2_15"/>
          <p:cNvSpPr txBox="1"/>
          <p:nvPr>
            <p:ph idx="1" type="body"/>
          </p:nvPr>
        </p:nvSpPr>
        <p:spPr>
          <a:xfrm>
            <a:off x="2822550" y="1852875"/>
            <a:ext cx="34989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300"/>
              <a:t>TI - WEBENCH (DC/DC)</a:t>
            </a:r>
            <a:endParaRPr sz="3400"/>
          </a:p>
        </p:txBody>
      </p:sp>
      <p:sp>
        <p:nvSpPr>
          <p:cNvPr id="183" name="Google Shape;183;g385abc7660d_2_15"/>
          <p:cNvSpPr txBox="1"/>
          <p:nvPr>
            <p:ph idx="1" type="body"/>
          </p:nvPr>
        </p:nvSpPr>
        <p:spPr>
          <a:xfrm>
            <a:off x="4705775" y="3861475"/>
            <a:ext cx="42945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b="1" lang="en-US" sz="1500"/>
            </a:br>
            <a:endParaRPr sz="2200"/>
          </a:p>
        </p:txBody>
      </p:sp>
      <p:sp>
        <p:nvSpPr>
          <p:cNvPr id="184" name="Google Shape;184;g385abc7660d_2_15"/>
          <p:cNvSpPr txBox="1"/>
          <p:nvPr/>
        </p:nvSpPr>
        <p:spPr>
          <a:xfrm>
            <a:off x="0" y="2100975"/>
            <a:ext cx="170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Jetson: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85" name="Google Shape;185;g385abc7660d_2_15"/>
          <p:cNvSpPr txBox="1"/>
          <p:nvPr/>
        </p:nvSpPr>
        <p:spPr>
          <a:xfrm>
            <a:off x="0" y="4551625"/>
            <a:ext cx="170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ESP-32: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86" name="Google Shape;186;g385abc7660d_2_15"/>
          <p:cNvPicPr preferRelativeResize="0"/>
          <p:nvPr/>
        </p:nvPicPr>
        <p:blipFill rotWithShape="1">
          <a:blip r:embed="rId3">
            <a:alphaModFix/>
          </a:blip>
          <a:srcRect b="0" l="3252" r="2202" t="13141"/>
          <a:stretch/>
        </p:blipFill>
        <p:spPr>
          <a:xfrm>
            <a:off x="649319" y="2465438"/>
            <a:ext cx="2468812" cy="20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85abc7660d_2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500" y="2465450"/>
            <a:ext cx="2536283" cy="214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85abc7660d_2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4275" y="2465450"/>
            <a:ext cx="2621466" cy="20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85abc7660d_2_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3862" y="4659544"/>
            <a:ext cx="2536276" cy="2103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85abc7660d_2_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9437" y="4659543"/>
            <a:ext cx="2298675" cy="1913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85abc7660d_2_15"/>
          <p:cNvPicPr preferRelativeResize="0"/>
          <p:nvPr/>
        </p:nvPicPr>
        <p:blipFill rotWithShape="1">
          <a:blip r:embed="rId8">
            <a:alphaModFix/>
          </a:blip>
          <a:srcRect b="0" l="0" r="8567" t="0"/>
          <a:stretch/>
        </p:blipFill>
        <p:spPr>
          <a:xfrm>
            <a:off x="6025875" y="4610800"/>
            <a:ext cx="2468800" cy="20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5abc7660d_2_4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Hardware – Muhammed Faseeh</a:t>
            </a:r>
            <a:endParaRPr/>
          </a:p>
        </p:txBody>
      </p:sp>
      <p:sp>
        <p:nvSpPr>
          <p:cNvPr id="197" name="Google Shape;197;g385abc7660d_2_4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g385abc7660d_2_42"/>
          <p:cNvSpPr txBox="1"/>
          <p:nvPr>
            <p:ph idx="1" type="body"/>
          </p:nvPr>
        </p:nvSpPr>
        <p:spPr>
          <a:xfrm>
            <a:off x="2556450" y="1852875"/>
            <a:ext cx="40311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/>
              <a:t>TI WEBENCH Power System </a:t>
            </a:r>
            <a:endParaRPr sz="2300"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300"/>
              <a:t>(AC/DC Front End)</a:t>
            </a:r>
            <a:endParaRPr sz="2300"/>
          </a:p>
        </p:txBody>
      </p:sp>
      <p:sp>
        <p:nvSpPr>
          <p:cNvPr id="199" name="Google Shape;199;g385abc7660d_2_42"/>
          <p:cNvSpPr txBox="1"/>
          <p:nvPr>
            <p:ph idx="1" type="body"/>
          </p:nvPr>
        </p:nvSpPr>
        <p:spPr>
          <a:xfrm>
            <a:off x="4705775" y="4006050"/>
            <a:ext cx="42945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b="1" lang="en-US" sz="1500"/>
            </a:br>
            <a:endParaRPr sz="2200"/>
          </a:p>
        </p:txBody>
      </p:sp>
      <p:sp>
        <p:nvSpPr>
          <p:cNvPr id="200" name="Google Shape;200;g385abc7660d_2_42"/>
          <p:cNvSpPr txBox="1"/>
          <p:nvPr/>
        </p:nvSpPr>
        <p:spPr>
          <a:xfrm>
            <a:off x="918475" y="2772450"/>
            <a:ext cx="489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201" name="Google Shape;201;g385abc7660d_2_42"/>
          <p:cNvSpPr txBox="1"/>
          <p:nvPr/>
        </p:nvSpPr>
        <p:spPr>
          <a:xfrm>
            <a:off x="1037550" y="3163650"/>
            <a:ext cx="489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202" name="Google Shape;202;g385abc7660d_2_42"/>
          <p:cNvSpPr txBox="1"/>
          <p:nvPr>
            <p:ph idx="1" type="body"/>
          </p:nvPr>
        </p:nvSpPr>
        <p:spPr>
          <a:xfrm>
            <a:off x="108525" y="3163650"/>
            <a:ext cx="38376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Simulated an isolated 120 VAC → 10 VDC @ 8 A power stage using TI WEBENCH.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Used for modeling and validation only, the actual prototype will be powered via UL-certified external adapter.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Supplies safe DC input to custom battery charger and buck converter network.</a:t>
            </a:r>
            <a:endParaRPr sz="15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03" name="Google Shape;203;g385abc7660d_2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2675" y="3024950"/>
            <a:ext cx="4820350" cy="277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5a839c5cc_0_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Hardware – Muhammed Faseeh</a:t>
            </a:r>
            <a:endParaRPr/>
          </a:p>
        </p:txBody>
      </p:sp>
      <p:sp>
        <p:nvSpPr>
          <p:cNvPr id="209" name="Google Shape;209;g385a839c5cc_0_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10" name="Google Shape;210;g385a839c5cc_0_2"/>
          <p:cNvGraphicFramePr/>
          <p:nvPr/>
        </p:nvGraphicFramePr>
        <p:xfrm>
          <a:off x="57150" y="198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{F9F287B7-0032-4161-8EEF-C67D037E0D0B}</a:tableStyleId>
              </a:tblPr>
              <a:tblGrid>
                <a:gridCol w="1498225"/>
                <a:gridCol w="1144125"/>
                <a:gridCol w="2386850"/>
                <a:gridCol w="1352550"/>
                <a:gridCol w="26479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Component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Options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Final Choice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Battery Chemistry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Li-ion vs LiFePO₄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Higher energy density &amp; discharge current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Slightly less cycle life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INR18650-P26A (2S2P ≈ 7.2 V 5.2 Ah)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Regulator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Linear vs Buck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High efficiency, compact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EMI filtering needed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Buck Converter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UI Platform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Local vs Web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Web = multi-device access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Needs Wi-Fi setup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Hybrid Tablet + Web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Lang/Stack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C++ vs Python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Fast dev, Jetson support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Slightly slower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Python + Flask (Frontend JS UI)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Robotics – David Haybarger</a:t>
            </a:r>
            <a:endParaRPr/>
          </a:p>
        </p:txBody>
      </p:sp>
      <p:sp>
        <p:nvSpPr>
          <p:cNvPr id="216" name="Google Shape;216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7" name="Google Shape;217;p6" title="TARS Structur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800" y="2153550"/>
            <a:ext cx="4114000" cy="390212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6"/>
          <p:cNvSpPr txBox="1"/>
          <p:nvPr/>
        </p:nvSpPr>
        <p:spPr>
          <a:xfrm>
            <a:off x="457200" y="2549413"/>
            <a:ext cx="4024500" cy="31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What does the </a:t>
            </a:r>
            <a:r>
              <a:rPr lang="en-US" sz="1800">
                <a:solidFill>
                  <a:schemeClr val="dk1"/>
                </a:solidFill>
              </a:rPr>
              <a:t>subsystem</a:t>
            </a:r>
            <a:r>
              <a:rPr lang="en-US" sz="1800">
                <a:solidFill>
                  <a:schemeClr val="dk1"/>
                </a:solidFill>
              </a:rPr>
              <a:t> do?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Provide physical actuation, movement, and probe deployment.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Objectives</a:t>
            </a:r>
            <a:r>
              <a:rPr lang="en-US" sz="1800">
                <a:solidFill>
                  <a:schemeClr val="dk1"/>
                </a:solidFill>
              </a:rPr>
              <a:t> &amp; Constraints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Stable and autonomous motion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AI interfaced control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Lab bench </a:t>
            </a:r>
            <a:r>
              <a:rPr lang="en-US" sz="1800">
                <a:solidFill>
                  <a:schemeClr val="dk1"/>
                </a:solidFill>
              </a:rPr>
              <a:t>compatible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First Shell and Mechanical System Prototype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5786350" y="4732475"/>
            <a:ext cx="2039700" cy="11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</a:rPr>
              <a:t>SERVOS</a:t>
            </a:r>
            <a:endParaRPr sz="3200">
              <a:solidFill>
                <a:srgbClr val="FF0000"/>
              </a:solidFill>
            </a:endParaRPr>
          </a:p>
        </p:txBody>
      </p:sp>
      <p:cxnSp>
        <p:nvCxnSpPr>
          <p:cNvPr id="220" name="Google Shape;220;p6"/>
          <p:cNvCxnSpPr>
            <a:stCxn id="219" idx="0"/>
          </p:cNvCxnSpPr>
          <p:nvPr/>
        </p:nvCxnSpPr>
        <p:spPr>
          <a:xfrm flipH="1" rot="10800000">
            <a:off x="6806200" y="3409475"/>
            <a:ext cx="813900" cy="1323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6"/>
          <p:cNvCxnSpPr>
            <a:stCxn id="219" idx="0"/>
          </p:cNvCxnSpPr>
          <p:nvPr/>
        </p:nvCxnSpPr>
        <p:spPr>
          <a:xfrm rot="10800000">
            <a:off x="6771100" y="4015775"/>
            <a:ext cx="35100" cy="716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6"/>
          <p:cNvCxnSpPr>
            <a:stCxn id="219" idx="0"/>
          </p:cNvCxnSpPr>
          <p:nvPr/>
        </p:nvCxnSpPr>
        <p:spPr>
          <a:xfrm rot="10800000">
            <a:off x="5569300" y="2957375"/>
            <a:ext cx="1236900" cy="177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6"/>
          <p:cNvSpPr txBox="1"/>
          <p:nvPr/>
        </p:nvSpPr>
        <p:spPr>
          <a:xfrm>
            <a:off x="5318175" y="6132746"/>
            <a:ext cx="2775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CAD Designs Based on C. Diaz TARS CAD Files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937e65582_0_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Robotics – David Haybarger</a:t>
            </a:r>
            <a:endParaRPr/>
          </a:p>
        </p:txBody>
      </p:sp>
      <p:sp>
        <p:nvSpPr>
          <p:cNvPr id="229" name="Google Shape;229;g38937e65582_0_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0" name="Google Shape;230;g38937e65582_0_1" title="Servo Control System Mk.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4200" y="2505376"/>
            <a:ext cx="4132600" cy="319847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8937e65582_0_1"/>
          <p:cNvSpPr txBox="1"/>
          <p:nvPr/>
        </p:nvSpPr>
        <p:spPr>
          <a:xfrm>
            <a:off x="457200" y="2505375"/>
            <a:ext cx="3000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Design Tools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Autodesk Fusion 360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Arduino IDE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3D Printed Fabrication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Components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ESP32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LD-3015MG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PCA9685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8937e65582_0_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gradFill>
            <a:gsLst>
              <a:gs pos="0">
                <a:srgbClr val="DFEAFB"/>
              </a:gs>
              <a:gs pos="100000">
                <a:srgbClr val="6E9CE7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Robotics – David Haybarger</a:t>
            </a:r>
            <a:endParaRPr/>
          </a:p>
        </p:txBody>
      </p:sp>
      <p:sp>
        <p:nvSpPr>
          <p:cNvPr id="237" name="Google Shape;237;g38937e65582_0_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38" name="Google Shape;238;g38937e65582_0_8"/>
          <p:cNvGraphicFramePr/>
          <p:nvPr/>
        </p:nvGraphicFramePr>
        <p:xfrm>
          <a:off x="604695" y="22582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{F9F287B7-0032-4161-8EEF-C67D037E0D0B}</a:tableStyleId>
              </a:tblPr>
              <a:tblGrid>
                <a:gridCol w="1498225"/>
                <a:gridCol w="1782925"/>
                <a:gridCol w="1748050"/>
                <a:gridCol w="1352550"/>
                <a:gridCol w="26479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Component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Options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Pros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Cons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Final Choice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Actuators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LD-3015MG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Bilda 2000-0025-002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MG996R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Highest torque to cost ratio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Weight and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Power Draw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LD-3015MG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</a:rPr>
                        <a:t>Microcontroller</a:t>
                      </a:r>
                      <a:endParaRPr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ESP32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Arduino Nano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RP Pico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Fast, Wireless Connectivity, Lots of timers/PWM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3.3V logic only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ESP32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 txBox="1"/>
          <p:nvPr>
            <p:ph type="title"/>
          </p:nvPr>
        </p:nvSpPr>
        <p:spPr>
          <a:xfrm>
            <a:off x="15875" y="871576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Project Execution &amp; Validation </a:t>
            </a:r>
            <a:endParaRPr/>
          </a:p>
        </p:txBody>
      </p:sp>
      <p:sp>
        <p:nvSpPr>
          <p:cNvPr id="244" name="Google Shape;244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45" name="Google Shape;245;p8"/>
          <p:cNvGraphicFramePr/>
          <p:nvPr/>
        </p:nvGraphicFramePr>
        <p:xfrm>
          <a:off x="467275" y="1711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{76DDAEB8-9CF0-4410-BCB4-24AB30C6B67F}</a:tableStyleId>
              </a:tblPr>
              <a:tblGrid>
                <a:gridCol w="1289050"/>
                <a:gridCol w="1307175"/>
                <a:gridCol w="1270925"/>
                <a:gridCol w="1289050"/>
                <a:gridCol w="1289050"/>
                <a:gridCol w="12890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/>
                        <a:t>10</a:t>
                      </a:r>
                      <a:r>
                        <a:rPr b="1" lang="en-US" sz="1200" u="none" cap="none" strike="noStrike"/>
                        <a:t>/</a:t>
                      </a:r>
                      <a:r>
                        <a:rPr b="1" lang="en-US" sz="1200"/>
                        <a:t>8</a:t>
                      </a:r>
                      <a:r>
                        <a:rPr b="1" lang="en-US" sz="1200" u="none" cap="none" strike="noStrike"/>
                        <a:t> - today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</a:t>
                      </a:r>
                      <a:r>
                        <a:rPr b="1" lang="en-US" sz="1200"/>
                        <a:t>0</a:t>
                      </a:r>
                      <a:r>
                        <a:rPr b="1" lang="en-US" sz="1200" u="none" cap="none" strike="noStrike"/>
                        <a:t>/</a:t>
                      </a:r>
                      <a:r>
                        <a:rPr b="1" lang="en-US" sz="1200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</a:t>
                      </a:r>
                      <a:r>
                        <a:rPr b="1" lang="en-US" sz="1200"/>
                        <a:t>1</a:t>
                      </a:r>
                      <a:r>
                        <a:rPr b="1" lang="en-US" sz="1200" u="none" cap="none" strike="noStrike"/>
                        <a:t>/</a:t>
                      </a:r>
                      <a:r>
                        <a:rPr b="1" lang="en-US" sz="1200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/>
                        <a:t>11</a:t>
                      </a:r>
                      <a:r>
                        <a:rPr b="1" lang="en-US" sz="1200"/>
                        <a:t>/19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</a:t>
                      </a:r>
                      <a:r>
                        <a:rPr b="1" lang="en-US" sz="1200"/>
                        <a:t>1</a:t>
                      </a:r>
                      <a:r>
                        <a:rPr b="1" lang="en-US" sz="1200" u="none" cap="none" strike="noStrike"/>
                        <a:t>/</a:t>
                      </a:r>
                      <a:r>
                        <a:rPr b="1" lang="en-US" sz="1200"/>
                        <a:t>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/>
                        <a:t>Voice &amp; Image Interface (Kevin Lee)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Voice-Controlled Response Demonstration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Multimodal (Image + Speech) Query Processing Enabled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Audio System Integrated and Tested with Power System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Image-to-text/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Text-to-speech functionality Integrated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Multimodal Voice–Vision–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Control Operation Functional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/>
                        <a:t>Artificial Intelligence (Michael Fritzer)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Have base LLM (from API), RAG, &amp; CV model operational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Integrate 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Local LLM</a:t>
                      </a: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 based off LightRAG.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Build Database &amp; Website for remote upload of documents.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Integrate document-side image recognition into LLM.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Integrate action outputs. Validate full system functionality.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833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/>
                        <a:t>Hardware (Muhammed Faseeh)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Began 2S2P battery pack and PCB implementation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Finalize PCB + begin basic UI power display layout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Assemble PCB, test voltage output, link Jetson to UI battery data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 Verify ripple, thermal stability, and UI updates under load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Validate full power + UI integration with Jetson system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/>
                        <a:t>Robotics (David Haybarger)</a:t>
                      </a:r>
                      <a:endParaRPr b="1" sz="12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Control System Prototype Constructed/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Tested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Control System Integrated with Mechanical Design/Shell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Control System PCB Designed and Tested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BluePad32 Library Integration/</a:t>
                      </a:r>
                      <a:endParaRPr sz="12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Testing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/>
                        <a:t>Functional Robotic System with Bluetooth Control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5b6ad905c_1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Autonomous University Robot Assistant</a:t>
            </a:r>
            <a:endParaRPr/>
          </a:p>
        </p:txBody>
      </p:sp>
      <p:sp>
        <p:nvSpPr>
          <p:cNvPr id="251" name="Google Shape;251;g385b6ad905c_1_0"/>
          <p:cNvSpPr txBox="1"/>
          <p:nvPr>
            <p:ph idx="1" type="body"/>
          </p:nvPr>
        </p:nvSpPr>
        <p:spPr>
          <a:xfrm>
            <a:off x="1663200" y="2267809"/>
            <a:ext cx="5817600" cy="14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491226"/>
                </a:solidFill>
                <a:latin typeface="Impact"/>
                <a:ea typeface="Impact"/>
                <a:cs typeface="Impact"/>
                <a:sym typeface="Impact"/>
              </a:rPr>
              <a:t>Thank You!</a:t>
            </a:r>
            <a:endParaRPr sz="9600">
              <a:solidFill>
                <a:srgbClr val="49122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2" name="Google Shape;252;g385b6ad905c_1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3" name="Google Shape;253;g385b6ad905c_1_0" title="image-asset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2050" y="3978397"/>
            <a:ext cx="2319898" cy="2377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Nowka, Kevin J.</dc:creator>
</cp:coreProperties>
</file>